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24387175" cy="13716000"/>
  <p:notesSz cx="13716000" cy="243871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14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328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348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3850" y="13220700"/>
            <a:ext cx="1009650" cy="3048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3850" y="13220700"/>
            <a:ext cx="1009650" cy="3048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png"/><Relationship Id="rId18" Type="http://schemas.openxmlformats.org/officeDocument/2006/relationships/image" Target="../media/image20.svg"/><Relationship Id="rId26" Type="http://schemas.openxmlformats.org/officeDocument/2006/relationships/image" Target="../media/image28.svg"/><Relationship Id="rId21" Type="http://schemas.openxmlformats.org/officeDocument/2006/relationships/image" Target="../media/image23.png"/><Relationship Id="rId34" Type="http://schemas.openxmlformats.org/officeDocument/2006/relationships/image" Target="../media/image36.sv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33" Type="http://schemas.openxmlformats.org/officeDocument/2006/relationships/image" Target="../media/image35.png"/><Relationship Id="rId38" Type="http://schemas.openxmlformats.org/officeDocument/2006/relationships/image" Target="../media/image40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8.svg"/><Relationship Id="rId20" Type="http://schemas.openxmlformats.org/officeDocument/2006/relationships/image" Target="../media/image22.sv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24" Type="http://schemas.openxmlformats.org/officeDocument/2006/relationships/image" Target="../media/image26.svg"/><Relationship Id="rId32" Type="http://schemas.openxmlformats.org/officeDocument/2006/relationships/image" Target="../media/image34.svg"/><Relationship Id="rId37" Type="http://schemas.openxmlformats.org/officeDocument/2006/relationships/image" Target="../media/image39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28" Type="http://schemas.openxmlformats.org/officeDocument/2006/relationships/image" Target="../media/image30.svg"/><Relationship Id="rId36" Type="http://schemas.openxmlformats.org/officeDocument/2006/relationships/image" Target="../media/image38.svg"/><Relationship Id="rId10" Type="http://schemas.openxmlformats.org/officeDocument/2006/relationships/image" Target="../media/image12.svg"/><Relationship Id="rId19" Type="http://schemas.openxmlformats.org/officeDocument/2006/relationships/image" Target="../media/image21.png"/><Relationship Id="rId31" Type="http://schemas.openxmlformats.org/officeDocument/2006/relationships/image" Target="../media/image33.pn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Relationship Id="rId22" Type="http://schemas.openxmlformats.org/officeDocument/2006/relationships/image" Target="../media/image24.svg"/><Relationship Id="rId27" Type="http://schemas.openxmlformats.org/officeDocument/2006/relationships/image" Target="../media/image29.png"/><Relationship Id="rId30" Type="http://schemas.openxmlformats.org/officeDocument/2006/relationships/image" Target="../media/image32.svg"/><Relationship Id="rId35" Type="http://schemas.openxmlformats.org/officeDocument/2006/relationships/image" Target="../media/image37.svg"/><Relationship Id="rId8" Type="http://schemas.openxmlformats.org/officeDocument/2006/relationships/image" Target="../media/image10.svg"/><Relationship Id="rId3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svg"/><Relationship Id="rId11" Type="http://schemas.openxmlformats.org/officeDocument/2006/relationships/image" Target="../media/image49.svg"/><Relationship Id="rId5" Type="http://schemas.openxmlformats.org/officeDocument/2006/relationships/image" Target="../media/image43.png"/><Relationship Id="rId10" Type="http://schemas.openxmlformats.org/officeDocument/2006/relationships/image" Target="../media/image48.svg"/><Relationship Id="rId4" Type="http://schemas.openxmlformats.org/officeDocument/2006/relationships/image" Target="../media/image42.svg"/><Relationship Id="rId9" Type="http://schemas.openxmlformats.org/officeDocument/2006/relationships/image" Target="../media/image47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1.png"/><Relationship Id="rId18" Type="http://schemas.openxmlformats.org/officeDocument/2006/relationships/image" Target="../media/image66.svg"/><Relationship Id="rId26" Type="http://schemas.openxmlformats.org/officeDocument/2006/relationships/image" Target="../media/image74.svg"/><Relationship Id="rId39" Type="http://schemas.openxmlformats.org/officeDocument/2006/relationships/image" Target="../media/image87.png"/><Relationship Id="rId21" Type="http://schemas.openxmlformats.org/officeDocument/2006/relationships/image" Target="../media/image69.png"/><Relationship Id="rId34" Type="http://schemas.openxmlformats.org/officeDocument/2006/relationships/image" Target="../media/image82.svg"/><Relationship Id="rId42" Type="http://schemas.openxmlformats.org/officeDocument/2006/relationships/image" Target="../media/image90.svg"/><Relationship Id="rId47" Type="http://schemas.openxmlformats.org/officeDocument/2006/relationships/image" Target="../media/image95.png"/><Relationship Id="rId50" Type="http://schemas.openxmlformats.org/officeDocument/2006/relationships/image" Target="../media/image98.svg"/><Relationship Id="rId55" Type="http://schemas.openxmlformats.org/officeDocument/2006/relationships/image" Target="../media/image103.png"/><Relationship Id="rId7" Type="http://schemas.openxmlformats.org/officeDocument/2006/relationships/image" Target="../media/image55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64.svg"/><Relationship Id="rId29" Type="http://schemas.openxmlformats.org/officeDocument/2006/relationships/image" Target="../media/image77.png"/><Relationship Id="rId11" Type="http://schemas.openxmlformats.org/officeDocument/2006/relationships/image" Target="../media/image59.png"/><Relationship Id="rId24" Type="http://schemas.openxmlformats.org/officeDocument/2006/relationships/image" Target="../media/image72.svg"/><Relationship Id="rId32" Type="http://schemas.openxmlformats.org/officeDocument/2006/relationships/image" Target="../media/image80.svg"/><Relationship Id="rId37" Type="http://schemas.openxmlformats.org/officeDocument/2006/relationships/image" Target="../media/image85.png"/><Relationship Id="rId40" Type="http://schemas.openxmlformats.org/officeDocument/2006/relationships/image" Target="../media/image88.svg"/><Relationship Id="rId45" Type="http://schemas.openxmlformats.org/officeDocument/2006/relationships/image" Target="../media/image93.png"/><Relationship Id="rId53" Type="http://schemas.openxmlformats.org/officeDocument/2006/relationships/image" Target="../media/image101.png"/><Relationship Id="rId5" Type="http://schemas.openxmlformats.org/officeDocument/2006/relationships/image" Target="../media/image53.svg"/><Relationship Id="rId10" Type="http://schemas.openxmlformats.org/officeDocument/2006/relationships/image" Target="../media/image58.svg"/><Relationship Id="rId19" Type="http://schemas.openxmlformats.org/officeDocument/2006/relationships/image" Target="../media/image67.png"/><Relationship Id="rId31" Type="http://schemas.openxmlformats.org/officeDocument/2006/relationships/image" Target="../media/image79.png"/><Relationship Id="rId44" Type="http://schemas.openxmlformats.org/officeDocument/2006/relationships/image" Target="../media/image92.svg"/><Relationship Id="rId52" Type="http://schemas.openxmlformats.org/officeDocument/2006/relationships/image" Target="../media/image100.svg"/><Relationship Id="rId4" Type="http://schemas.openxmlformats.org/officeDocument/2006/relationships/image" Target="../media/image52.svg"/><Relationship Id="rId9" Type="http://schemas.openxmlformats.org/officeDocument/2006/relationships/image" Target="../media/image57.png"/><Relationship Id="rId14" Type="http://schemas.openxmlformats.org/officeDocument/2006/relationships/image" Target="../media/image62.svg"/><Relationship Id="rId22" Type="http://schemas.openxmlformats.org/officeDocument/2006/relationships/image" Target="../media/image70.svg"/><Relationship Id="rId27" Type="http://schemas.openxmlformats.org/officeDocument/2006/relationships/image" Target="../media/image75.png"/><Relationship Id="rId30" Type="http://schemas.openxmlformats.org/officeDocument/2006/relationships/image" Target="../media/image78.svg"/><Relationship Id="rId35" Type="http://schemas.openxmlformats.org/officeDocument/2006/relationships/image" Target="../media/image83.png"/><Relationship Id="rId43" Type="http://schemas.openxmlformats.org/officeDocument/2006/relationships/image" Target="../media/image91.svg"/><Relationship Id="rId48" Type="http://schemas.openxmlformats.org/officeDocument/2006/relationships/image" Target="../media/image96.svg"/><Relationship Id="rId56" Type="http://schemas.openxmlformats.org/officeDocument/2006/relationships/image" Target="../media/image104.svg"/><Relationship Id="rId8" Type="http://schemas.openxmlformats.org/officeDocument/2006/relationships/image" Target="../media/image56.svg"/><Relationship Id="rId51" Type="http://schemas.openxmlformats.org/officeDocument/2006/relationships/image" Target="../media/image99.png"/><Relationship Id="rId3" Type="http://schemas.openxmlformats.org/officeDocument/2006/relationships/image" Target="../media/image51.png"/><Relationship Id="rId12" Type="http://schemas.openxmlformats.org/officeDocument/2006/relationships/image" Target="../media/image60.svg"/><Relationship Id="rId17" Type="http://schemas.openxmlformats.org/officeDocument/2006/relationships/image" Target="../media/image65.png"/><Relationship Id="rId25" Type="http://schemas.openxmlformats.org/officeDocument/2006/relationships/image" Target="../media/image73.png"/><Relationship Id="rId33" Type="http://schemas.openxmlformats.org/officeDocument/2006/relationships/image" Target="../media/image81.png"/><Relationship Id="rId38" Type="http://schemas.openxmlformats.org/officeDocument/2006/relationships/image" Target="../media/image86.svg"/><Relationship Id="rId46" Type="http://schemas.openxmlformats.org/officeDocument/2006/relationships/image" Target="../media/image94.svg"/><Relationship Id="rId20" Type="http://schemas.openxmlformats.org/officeDocument/2006/relationships/image" Target="../media/image68.svg"/><Relationship Id="rId41" Type="http://schemas.openxmlformats.org/officeDocument/2006/relationships/image" Target="../media/image89.png"/><Relationship Id="rId54" Type="http://schemas.openxmlformats.org/officeDocument/2006/relationships/image" Target="../media/image10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svg"/><Relationship Id="rId15" Type="http://schemas.openxmlformats.org/officeDocument/2006/relationships/image" Target="../media/image63.png"/><Relationship Id="rId23" Type="http://schemas.openxmlformats.org/officeDocument/2006/relationships/image" Target="../media/image71.png"/><Relationship Id="rId28" Type="http://schemas.openxmlformats.org/officeDocument/2006/relationships/image" Target="../media/image76.svg"/><Relationship Id="rId36" Type="http://schemas.openxmlformats.org/officeDocument/2006/relationships/image" Target="../media/image84.svg"/><Relationship Id="rId49" Type="http://schemas.openxmlformats.org/officeDocument/2006/relationships/image" Target="../media/image9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svg"/><Relationship Id="rId13" Type="http://schemas.openxmlformats.org/officeDocument/2006/relationships/image" Target="../media/image115.png"/><Relationship Id="rId18" Type="http://schemas.openxmlformats.org/officeDocument/2006/relationships/image" Target="../media/image120.svg"/><Relationship Id="rId3" Type="http://schemas.openxmlformats.org/officeDocument/2006/relationships/image" Target="../media/image105.png"/><Relationship Id="rId21" Type="http://schemas.openxmlformats.org/officeDocument/2006/relationships/image" Target="../media/image123.svg"/><Relationship Id="rId7" Type="http://schemas.openxmlformats.org/officeDocument/2006/relationships/image" Target="../media/image109.png"/><Relationship Id="rId12" Type="http://schemas.openxmlformats.org/officeDocument/2006/relationships/image" Target="../media/image114.svg"/><Relationship Id="rId17" Type="http://schemas.openxmlformats.org/officeDocument/2006/relationships/image" Target="../media/image11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18.svg"/><Relationship Id="rId20" Type="http://schemas.openxmlformats.org/officeDocument/2006/relationships/image" Target="../media/image12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8.svg"/><Relationship Id="rId11" Type="http://schemas.openxmlformats.org/officeDocument/2006/relationships/image" Target="../media/image113.png"/><Relationship Id="rId5" Type="http://schemas.openxmlformats.org/officeDocument/2006/relationships/image" Target="../media/image107.png"/><Relationship Id="rId15" Type="http://schemas.openxmlformats.org/officeDocument/2006/relationships/image" Target="../media/image117.png"/><Relationship Id="rId10" Type="http://schemas.openxmlformats.org/officeDocument/2006/relationships/image" Target="../media/image112.svg"/><Relationship Id="rId19" Type="http://schemas.openxmlformats.org/officeDocument/2006/relationships/image" Target="../media/image121.png"/><Relationship Id="rId4" Type="http://schemas.openxmlformats.org/officeDocument/2006/relationships/image" Target="../media/image106.svg"/><Relationship Id="rId9" Type="http://schemas.openxmlformats.org/officeDocument/2006/relationships/image" Target="../media/image111.png"/><Relationship Id="rId14" Type="http://schemas.openxmlformats.org/officeDocument/2006/relationships/image" Target="../media/image11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svg"/><Relationship Id="rId3" Type="http://schemas.openxmlformats.org/officeDocument/2006/relationships/image" Target="../media/image124.png"/><Relationship Id="rId7" Type="http://schemas.openxmlformats.org/officeDocument/2006/relationships/image" Target="../media/image1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7.svg"/><Relationship Id="rId5" Type="http://schemas.openxmlformats.org/officeDocument/2006/relationships/image" Target="../media/image126.png"/><Relationship Id="rId4" Type="http://schemas.openxmlformats.org/officeDocument/2006/relationships/image" Target="../media/image125.svg"/><Relationship Id="rId9" Type="http://schemas.openxmlformats.org/officeDocument/2006/relationships/image" Target="../media/image130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svg"/><Relationship Id="rId3" Type="http://schemas.openxmlformats.org/officeDocument/2006/relationships/image" Target="../media/image131.png"/><Relationship Id="rId7" Type="http://schemas.openxmlformats.org/officeDocument/2006/relationships/image" Target="../media/image1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4.svg"/><Relationship Id="rId5" Type="http://schemas.openxmlformats.org/officeDocument/2006/relationships/image" Target="../media/image133.png"/><Relationship Id="rId10" Type="http://schemas.openxmlformats.org/officeDocument/2006/relationships/image" Target="../media/image138.svg"/><Relationship Id="rId4" Type="http://schemas.openxmlformats.org/officeDocument/2006/relationships/image" Target="../media/image132.svg"/><Relationship Id="rId9" Type="http://schemas.openxmlformats.org/officeDocument/2006/relationships/image" Target="../media/image1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svg"/><Relationship Id="rId13" Type="http://schemas.openxmlformats.org/officeDocument/2006/relationships/image" Target="../media/image149.svg"/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12" Type="http://schemas.openxmlformats.org/officeDocument/2006/relationships/image" Target="../media/image14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2.svg"/><Relationship Id="rId11" Type="http://schemas.openxmlformats.org/officeDocument/2006/relationships/image" Target="../media/image147.png"/><Relationship Id="rId5" Type="http://schemas.openxmlformats.org/officeDocument/2006/relationships/image" Target="../media/image141.png"/><Relationship Id="rId15" Type="http://schemas.openxmlformats.org/officeDocument/2006/relationships/image" Target="../media/image151.svg"/><Relationship Id="rId10" Type="http://schemas.openxmlformats.org/officeDocument/2006/relationships/image" Target="../media/image146.svg"/><Relationship Id="rId4" Type="http://schemas.openxmlformats.org/officeDocument/2006/relationships/image" Target="../media/image140.svg"/><Relationship Id="rId9" Type="http://schemas.openxmlformats.org/officeDocument/2006/relationships/image" Target="../media/image145.png"/><Relationship Id="rId14" Type="http://schemas.openxmlformats.org/officeDocument/2006/relationships/image" Target="../media/image15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svg"/><Relationship Id="rId13" Type="http://schemas.openxmlformats.org/officeDocument/2006/relationships/image" Target="../media/image160.png"/><Relationship Id="rId18" Type="http://schemas.openxmlformats.org/officeDocument/2006/relationships/image" Target="../media/image165.svg"/><Relationship Id="rId3" Type="http://schemas.openxmlformats.org/officeDocument/2006/relationships/image" Target="../media/image105.png"/><Relationship Id="rId21" Type="http://schemas.openxmlformats.org/officeDocument/2006/relationships/image" Target="../media/image168.png"/><Relationship Id="rId7" Type="http://schemas.openxmlformats.org/officeDocument/2006/relationships/image" Target="../media/image154.png"/><Relationship Id="rId12" Type="http://schemas.openxmlformats.org/officeDocument/2006/relationships/image" Target="../media/image159.svg"/><Relationship Id="rId17" Type="http://schemas.openxmlformats.org/officeDocument/2006/relationships/image" Target="../media/image164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63.svg"/><Relationship Id="rId20" Type="http://schemas.openxmlformats.org/officeDocument/2006/relationships/image" Target="../media/image16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3.svg"/><Relationship Id="rId11" Type="http://schemas.openxmlformats.org/officeDocument/2006/relationships/image" Target="../media/image158.png"/><Relationship Id="rId5" Type="http://schemas.openxmlformats.org/officeDocument/2006/relationships/image" Target="../media/image152.png"/><Relationship Id="rId15" Type="http://schemas.openxmlformats.org/officeDocument/2006/relationships/image" Target="../media/image162.png"/><Relationship Id="rId10" Type="http://schemas.openxmlformats.org/officeDocument/2006/relationships/image" Target="../media/image157.svg"/><Relationship Id="rId19" Type="http://schemas.openxmlformats.org/officeDocument/2006/relationships/image" Target="../media/image166.png"/><Relationship Id="rId4" Type="http://schemas.openxmlformats.org/officeDocument/2006/relationships/image" Target="../media/image106.svg"/><Relationship Id="rId9" Type="http://schemas.openxmlformats.org/officeDocument/2006/relationships/image" Target="../media/image156.png"/><Relationship Id="rId14" Type="http://schemas.openxmlformats.org/officeDocument/2006/relationships/image" Target="../media/image161.svg"/><Relationship Id="rId22" Type="http://schemas.openxmlformats.org/officeDocument/2006/relationships/image" Target="../media/image16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7" Type="http://schemas.openxmlformats.org/officeDocument/2006/relationships/image" Target="../media/image176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5.svg"/><Relationship Id="rId5" Type="http://schemas.openxmlformats.org/officeDocument/2006/relationships/image" Target="../media/image174.png"/><Relationship Id="rId4" Type="http://schemas.openxmlformats.org/officeDocument/2006/relationships/image" Target="../media/image173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svg"/><Relationship Id="rId3" Type="http://schemas.openxmlformats.org/officeDocument/2006/relationships/image" Target="../media/image177.png"/><Relationship Id="rId7" Type="http://schemas.openxmlformats.org/officeDocument/2006/relationships/image" Target="../media/image18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0.svg"/><Relationship Id="rId5" Type="http://schemas.openxmlformats.org/officeDocument/2006/relationships/image" Target="../media/image179.png"/><Relationship Id="rId4" Type="http://schemas.openxmlformats.org/officeDocument/2006/relationships/image" Target="../media/image178.svg"/><Relationship Id="rId9" Type="http://schemas.openxmlformats.org/officeDocument/2006/relationships/image" Target="../media/image183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svg"/><Relationship Id="rId3" Type="http://schemas.openxmlformats.org/officeDocument/2006/relationships/image" Target="../media/image184.png"/><Relationship Id="rId7" Type="http://schemas.openxmlformats.org/officeDocument/2006/relationships/image" Target="../media/image18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7.svg"/><Relationship Id="rId11" Type="http://schemas.openxmlformats.org/officeDocument/2006/relationships/image" Target="../media/image192.svg"/><Relationship Id="rId5" Type="http://schemas.openxmlformats.org/officeDocument/2006/relationships/image" Target="../media/image186.png"/><Relationship Id="rId10" Type="http://schemas.openxmlformats.org/officeDocument/2006/relationships/image" Target="../media/image191.png"/><Relationship Id="rId4" Type="http://schemas.openxmlformats.org/officeDocument/2006/relationships/image" Target="../media/image185.svg"/><Relationship Id="rId9" Type="http://schemas.openxmlformats.org/officeDocument/2006/relationships/image" Target="../media/image190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svg"/><Relationship Id="rId3" Type="http://schemas.openxmlformats.org/officeDocument/2006/relationships/image" Target="../media/image193.png"/><Relationship Id="rId7" Type="http://schemas.openxmlformats.org/officeDocument/2006/relationships/image" Target="../media/image106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5.png"/><Relationship Id="rId5" Type="http://schemas.openxmlformats.org/officeDocument/2006/relationships/image" Target="../media/image195.svg"/><Relationship Id="rId4" Type="http://schemas.openxmlformats.org/officeDocument/2006/relationships/image" Target="../media/image194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svg"/><Relationship Id="rId13" Type="http://schemas.openxmlformats.org/officeDocument/2006/relationships/image" Target="../media/image205.svg"/><Relationship Id="rId18" Type="http://schemas.openxmlformats.org/officeDocument/2006/relationships/image" Target="../media/image210.svg"/><Relationship Id="rId3" Type="http://schemas.openxmlformats.org/officeDocument/2006/relationships/image" Target="../media/image105.png"/><Relationship Id="rId21" Type="http://schemas.openxmlformats.org/officeDocument/2006/relationships/image" Target="../media/image213.svg"/><Relationship Id="rId7" Type="http://schemas.openxmlformats.org/officeDocument/2006/relationships/image" Target="../media/image199.png"/><Relationship Id="rId12" Type="http://schemas.openxmlformats.org/officeDocument/2006/relationships/image" Target="../media/image204.png"/><Relationship Id="rId17" Type="http://schemas.openxmlformats.org/officeDocument/2006/relationships/image" Target="../media/image209.sv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208.png"/><Relationship Id="rId20" Type="http://schemas.openxmlformats.org/officeDocument/2006/relationships/image" Target="../media/image21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8.svg"/><Relationship Id="rId11" Type="http://schemas.openxmlformats.org/officeDocument/2006/relationships/image" Target="../media/image203.svg"/><Relationship Id="rId5" Type="http://schemas.openxmlformats.org/officeDocument/2006/relationships/image" Target="../media/image197.png"/><Relationship Id="rId15" Type="http://schemas.openxmlformats.org/officeDocument/2006/relationships/image" Target="../media/image207.svg"/><Relationship Id="rId23" Type="http://schemas.openxmlformats.org/officeDocument/2006/relationships/image" Target="../media/image215.svg"/><Relationship Id="rId10" Type="http://schemas.openxmlformats.org/officeDocument/2006/relationships/image" Target="../media/image202.svg"/><Relationship Id="rId19" Type="http://schemas.openxmlformats.org/officeDocument/2006/relationships/image" Target="../media/image211.png"/><Relationship Id="rId4" Type="http://schemas.openxmlformats.org/officeDocument/2006/relationships/image" Target="../media/image106.svg"/><Relationship Id="rId9" Type="http://schemas.openxmlformats.org/officeDocument/2006/relationships/image" Target="../media/image201.png"/><Relationship Id="rId14" Type="http://schemas.openxmlformats.org/officeDocument/2006/relationships/image" Target="../media/image206.png"/><Relationship Id="rId22" Type="http://schemas.openxmlformats.org/officeDocument/2006/relationships/image" Target="../media/image2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7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svg"/><Relationship Id="rId13" Type="http://schemas.openxmlformats.org/officeDocument/2006/relationships/image" Target="../media/image228.png"/><Relationship Id="rId3" Type="http://schemas.openxmlformats.org/officeDocument/2006/relationships/image" Target="../media/image218.png"/><Relationship Id="rId7" Type="http://schemas.openxmlformats.org/officeDocument/2006/relationships/image" Target="../media/image222.png"/><Relationship Id="rId12" Type="http://schemas.openxmlformats.org/officeDocument/2006/relationships/image" Target="../media/image227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1.svg"/><Relationship Id="rId11" Type="http://schemas.openxmlformats.org/officeDocument/2006/relationships/image" Target="../media/image226.png"/><Relationship Id="rId5" Type="http://schemas.openxmlformats.org/officeDocument/2006/relationships/image" Target="../media/image220.png"/><Relationship Id="rId10" Type="http://schemas.openxmlformats.org/officeDocument/2006/relationships/image" Target="../media/image225.svg"/><Relationship Id="rId4" Type="http://schemas.openxmlformats.org/officeDocument/2006/relationships/image" Target="../media/image219.svg"/><Relationship Id="rId9" Type="http://schemas.openxmlformats.org/officeDocument/2006/relationships/image" Target="../media/image224.png"/><Relationship Id="rId14" Type="http://schemas.openxmlformats.org/officeDocument/2006/relationships/image" Target="../media/image229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png"/><Relationship Id="rId3" Type="http://schemas.openxmlformats.org/officeDocument/2006/relationships/image" Target="../media/image230.png"/><Relationship Id="rId7" Type="http://schemas.openxmlformats.org/officeDocument/2006/relationships/image" Target="../media/image234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3.svg"/><Relationship Id="rId11" Type="http://schemas.openxmlformats.org/officeDocument/2006/relationships/image" Target="../media/image238.svg"/><Relationship Id="rId5" Type="http://schemas.openxmlformats.org/officeDocument/2006/relationships/image" Target="../media/image232.png"/><Relationship Id="rId10" Type="http://schemas.openxmlformats.org/officeDocument/2006/relationships/image" Target="../media/image237.png"/><Relationship Id="rId4" Type="http://schemas.openxmlformats.org/officeDocument/2006/relationships/image" Target="../media/image231.svg"/><Relationship Id="rId9" Type="http://schemas.openxmlformats.org/officeDocument/2006/relationships/image" Target="../media/image236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4.svg"/><Relationship Id="rId13" Type="http://schemas.openxmlformats.org/officeDocument/2006/relationships/image" Target="../media/image249.svg"/><Relationship Id="rId3" Type="http://schemas.openxmlformats.org/officeDocument/2006/relationships/image" Target="../media/image239.png"/><Relationship Id="rId7" Type="http://schemas.openxmlformats.org/officeDocument/2006/relationships/image" Target="../media/image243.svg"/><Relationship Id="rId12" Type="http://schemas.openxmlformats.org/officeDocument/2006/relationships/image" Target="../media/image248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2.svg"/><Relationship Id="rId11" Type="http://schemas.openxmlformats.org/officeDocument/2006/relationships/image" Target="../media/image247.svg"/><Relationship Id="rId5" Type="http://schemas.openxmlformats.org/officeDocument/2006/relationships/image" Target="../media/image241.png"/><Relationship Id="rId10" Type="http://schemas.openxmlformats.org/officeDocument/2006/relationships/image" Target="../media/image246.svg"/><Relationship Id="rId4" Type="http://schemas.openxmlformats.org/officeDocument/2006/relationships/image" Target="../media/image240.svg"/><Relationship Id="rId9" Type="http://schemas.openxmlformats.org/officeDocument/2006/relationships/image" Target="../media/image245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svg"/><Relationship Id="rId13" Type="http://schemas.openxmlformats.org/officeDocument/2006/relationships/image" Target="../media/image260.png"/><Relationship Id="rId3" Type="http://schemas.openxmlformats.org/officeDocument/2006/relationships/image" Target="../media/image250.png"/><Relationship Id="rId7" Type="http://schemas.openxmlformats.org/officeDocument/2006/relationships/image" Target="../media/image254.png"/><Relationship Id="rId12" Type="http://schemas.openxmlformats.org/officeDocument/2006/relationships/image" Target="../media/image259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3.svg"/><Relationship Id="rId11" Type="http://schemas.openxmlformats.org/officeDocument/2006/relationships/image" Target="../media/image258.png"/><Relationship Id="rId5" Type="http://schemas.openxmlformats.org/officeDocument/2006/relationships/image" Target="../media/image252.png"/><Relationship Id="rId10" Type="http://schemas.openxmlformats.org/officeDocument/2006/relationships/image" Target="../media/image257.svg"/><Relationship Id="rId4" Type="http://schemas.openxmlformats.org/officeDocument/2006/relationships/image" Target="../media/image251.svg"/><Relationship Id="rId9" Type="http://schemas.openxmlformats.org/officeDocument/2006/relationships/image" Target="../media/image256.png"/><Relationship Id="rId14" Type="http://schemas.openxmlformats.org/officeDocument/2006/relationships/image" Target="../media/image261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7.svg"/><Relationship Id="rId3" Type="http://schemas.openxmlformats.org/officeDocument/2006/relationships/image" Target="../media/image262.png"/><Relationship Id="rId7" Type="http://schemas.openxmlformats.org/officeDocument/2006/relationships/image" Target="../media/image26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5.svg"/><Relationship Id="rId5" Type="http://schemas.openxmlformats.org/officeDocument/2006/relationships/image" Target="../media/image264.png"/><Relationship Id="rId10" Type="http://schemas.openxmlformats.org/officeDocument/2006/relationships/image" Target="../media/image269.svg"/><Relationship Id="rId4" Type="http://schemas.openxmlformats.org/officeDocument/2006/relationships/image" Target="../media/image263.svg"/><Relationship Id="rId9" Type="http://schemas.openxmlformats.org/officeDocument/2006/relationships/image" Target="../media/image26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7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1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5.svg"/><Relationship Id="rId3" Type="http://schemas.openxmlformats.org/officeDocument/2006/relationships/image" Target="../media/image272.png"/><Relationship Id="rId7" Type="http://schemas.openxmlformats.org/officeDocument/2006/relationships/image" Target="../media/image133.png"/><Relationship Id="rId12" Type="http://schemas.openxmlformats.org/officeDocument/2006/relationships/image" Target="../media/image138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4.svg"/><Relationship Id="rId11" Type="http://schemas.openxmlformats.org/officeDocument/2006/relationships/image" Target="../media/image137.png"/><Relationship Id="rId5" Type="http://schemas.openxmlformats.org/officeDocument/2006/relationships/image" Target="../media/image131.png"/><Relationship Id="rId10" Type="http://schemas.openxmlformats.org/officeDocument/2006/relationships/image" Target="../media/image136.svg"/><Relationship Id="rId4" Type="http://schemas.openxmlformats.org/officeDocument/2006/relationships/image" Target="../media/image273.svg"/><Relationship Id="rId9" Type="http://schemas.openxmlformats.org/officeDocument/2006/relationships/image" Target="../media/image13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1.svg"/><Relationship Id="rId13" Type="http://schemas.openxmlformats.org/officeDocument/2006/relationships/image" Target="../media/image286.png"/><Relationship Id="rId18" Type="http://schemas.openxmlformats.org/officeDocument/2006/relationships/image" Target="../media/image291.svg"/><Relationship Id="rId3" Type="http://schemas.openxmlformats.org/officeDocument/2006/relationships/image" Target="../media/image276.png"/><Relationship Id="rId7" Type="http://schemas.openxmlformats.org/officeDocument/2006/relationships/image" Target="../media/image280.png"/><Relationship Id="rId12" Type="http://schemas.openxmlformats.org/officeDocument/2006/relationships/image" Target="../media/image285.svg"/><Relationship Id="rId17" Type="http://schemas.openxmlformats.org/officeDocument/2006/relationships/image" Target="../media/image290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28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9.svg"/><Relationship Id="rId11" Type="http://schemas.openxmlformats.org/officeDocument/2006/relationships/image" Target="../media/image284.png"/><Relationship Id="rId5" Type="http://schemas.openxmlformats.org/officeDocument/2006/relationships/image" Target="../media/image278.png"/><Relationship Id="rId15" Type="http://schemas.openxmlformats.org/officeDocument/2006/relationships/image" Target="../media/image288.png"/><Relationship Id="rId10" Type="http://schemas.openxmlformats.org/officeDocument/2006/relationships/image" Target="../media/image283.svg"/><Relationship Id="rId4" Type="http://schemas.openxmlformats.org/officeDocument/2006/relationships/image" Target="../media/image277.svg"/><Relationship Id="rId9" Type="http://schemas.openxmlformats.org/officeDocument/2006/relationships/image" Target="../media/image282.png"/><Relationship Id="rId14" Type="http://schemas.openxmlformats.org/officeDocument/2006/relationships/image" Target="../media/image28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83E84017-2EEF-4C6E-865B-B0C4FEC85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-3"/>
            <a:ext cx="24387175" cy="1371600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2584773" y="-3721137"/>
            <a:ext cx="29546010" cy="1743714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sp>
        <p:nvSpPr>
          <p:cNvPr id="6" name="Shape 1"/>
          <p:cNvSpPr/>
          <p:nvPr/>
        </p:nvSpPr>
        <p:spPr>
          <a:xfrm>
            <a:off x="17502788" y="11787718"/>
            <a:ext cx="270967" cy="270933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" name="Shape 2"/>
          <p:cNvSpPr/>
          <p:nvPr/>
        </p:nvSpPr>
        <p:spPr>
          <a:xfrm>
            <a:off x="18044723" y="11787718"/>
            <a:ext cx="270967" cy="270933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8" name="Shape 3"/>
          <p:cNvSpPr/>
          <p:nvPr/>
        </p:nvSpPr>
        <p:spPr>
          <a:xfrm>
            <a:off x="18315689" y="11584518"/>
            <a:ext cx="203225" cy="203200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9" name="Shape 4"/>
          <p:cNvSpPr/>
          <p:nvPr/>
        </p:nvSpPr>
        <p:spPr>
          <a:xfrm>
            <a:off x="17739885" y="11449050"/>
            <a:ext cx="338709" cy="3386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1" name="Text 6"/>
          <p:cNvSpPr/>
          <p:nvPr/>
        </p:nvSpPr>
        <p:spPr>
          <a:xfrm>
            <a:off x="1545455" y="5318051"/>
            <a:ext cx="16973459" cy="4174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0"/>
              </a:lnSpc>
              <a:buNone/>
            </a:pPr>
            <a:r>
              <a:rPr lang="zh-CN" altLang="en-US" sz="11500" kern="0" spc="-258" dirty="0">
                <a:solidFill>
                  <a:srgbClr val="FFFFFF">
                    <a:alpha val="100000"/>
                  </a:srgbClr>
                </a:solidFill>
                <a:latin typeface="STZhongsong" panose="02010600040101010101" pitchFamily="2" charset="-122"/>
                <a:ea typeface="STZhongsong" panose="02010600040101010101" pitchFamily="2" charset="-122"/>
                <a:cs typeface="Archivo Bold" pitchFamily="34" charset="-120"/>
              </a:rPr>
              <a:t>知汇：企业知识管理系统</a:t>
            </a:r>
            <a:endParaRPr lang="en-US" sz="11500" dirty="0">
              <a:latin typeface="STZhongsong" panose="02010600040101010101" pitchFamily="2" charset="-122"/>
              <a:ea typeface="STZhongsong" panose="02010600040101010101" pitchFamily="2" charset="-122"/>
            </a:endParaRPr>
          </a:p>
        </p:txBody>
      </p:sp>
      <p:pic>
        <p:nvPicPr>
          <p:cNvPr id="2" name="图片 1" descr="950402ed72d629f8190ce4dd0bd53429">
            <a:extLst>
              <a:ext uri="{FF2B5EF4-FFF2-40B4-BE49-F238E27FC236}">
                <a16:creationId xmlns:a16="http://schemas.microsoft.com/office/drawing/2014/main" id="{9D2EDC26-81F3-04DA-9284-06072D6E10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009" y="10067088"/>
            <a:ext cx="2432610" cy="243261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AFD18BD-FA53-3C00-C51A-E6404D9576E7}"/>
              </a:ext>
            </a:extLst>
          </p:cNvPr>
          <p:cNvSpPr txBox="1"/>
          <p:nvPr/>
        </p:nvSpPr>
        <p:spPr>
          <a:xfrm>
            <a:off x="4447597" y="10741164"/>
            <a:ext cx="87824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000" dirty="0">
                <a:solidFill>
                  <a:schemeClr val="bg1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第六组</a:t>
            </a:r>
            <a:r>
              <a:rPr kumimoji="1" lang="en-US" altLang="zh-CN" sz="4000" dirty="0">
                <a:solidFill>
                  <a:schemeClr val="bg1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	</a:t>
            </a:r>
            <a:r>
              <a:rPr kumimoji="1" lang="zh-CN" altLang="en-US" sz="4000" dirty="0">
                <a:solidFill>
                  <a:schemeClr val="bg1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杨佳兴 吴亚南 赖智垣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raphic 51">
            <a:extLst>
              <a:ext uri="{FF2B5EF4-FFF2-40B4-BE49-F238E27FC236}">
                <a16:creationId xmlns:a16="http://schemas.microsoft.com/office/drawing/2014/main" id="{8C6671F7-6F47-41D4-AEA5-50F6BA3B79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1911" y="1016000"/>
            <a:ext cx="17356424" cy="13289700"/>
          </a:xfrm>
          <a:prstGeom prst="rect">
            <a:avLst/>
          </a:prstGeom>
        </p:spPr>
      </p:pic>
      <p:pic>
        <p:nvPicPr>
          <p:cNvPr id="3" name="Image 1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48368" y="3073400"/>
            <a:ext cx="13235054" cy="1143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653206" y="3454400"/>
            <a:ext cx="1244756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</a:t>
            </a:r>
            <a:endParaRPr lang="en-US" sz="2400" dirty="0"/>
          </a:p>
        </p:txBody>
      </p:sp>
      <p:sp>
        <p:nvSpPr>
          <p:cNvPr id="6" name="Text 1"/>
          <p:cNvSpPr/>
          <p:nvPr/>
        </p:nvSpPr>
        <p:spPr>
          <a:xfrm>
            <a:off x="9653206" y="4830961"/>
            <a:ext cx="2616527" cy="64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Data Representation</a:t>
            </a:r>
            <a:endParaRPr lang="en-US" sz="2400" dirty="0"/>
          </a:p>
        </p:txBody>
      </p:sp>
      <p:sp>
        <p:nvSpPr>
          <p:cNvPr id="7" name="Text 2"/>
          <p:cNvSpPr/>
          <p:nvPr/>
        </p:nvSpPr>
        <p:spPr>
          <a:xfrm>
            <a:off x="14047956" y="4830961"/>
            <a:ext cx="3340518" cy="64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Uses bits (0 or 1)</a:t>
            </a:r>
            <a:endParaRPr lang="en-US" sz="2400" dirty="0"/>
          </a:p>
        </p:txBody>
      </p:sp>
      <p:sp>
        <p:nvSpPr>
          <p:cNvPr id="8" name="Text 3"/>
          <p:cNvSpPr/>
          <p:nvPr/>
        </p:nvSpPr>
        <p:spPr>
          <a:xfrm>
            <a:off x="18493511" y="4830961"/>
            <a:ext cx="3785073" cy="64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Qubits (0, 1, or both)</a:t>
            </a:r>
            <a:endParaRPr lang="en-US" sz="2400" dirty="0"/>
          </a:p>
        </p:txBody>
      </p:sp>
      <p:sp>
        <p:nvSpPr>
          <p:cNvPr id="9" name="Text 4"/>
          <p:cNvSpPr/>
          <p:nvPr/>
        </p:nvSpPr>
        <p:spPr>
          <a:xfrm>
            <a:off x="9653206" y="6525444"/>
            <a:ext cx="1917940" cy="64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Processing</a:t>
            </a:r>
            <a:endParaRPr lang="en-US" sz="2400" dirty="0"/>
          </a:p>
        </p:txBody>
      </p:sp>
      <p:sp>
        <p:nvSpPr>
          <p:cNvPr id="10" name="Text 5"/>
          <p:cNvSpPr/>
          <p:nvPr/>
        </p:nvSpPr>
        <p:spPr>
          <a:xfrm>
            <a:off x="9653206" y="8038368"/>
            <a:ext cx="1841730" cy="64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Accessibility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9653206" y="9551293"/>
            <a:ext cx="1244756" cy="64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Security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9653206" y="11064211"/>
            <a:ext cx="1549594" cy="64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Innovation</a:t>
            </a:r>
            <a:endParaRPr lang="en-US" sz="2400" dirty="0"/>
          </a:p>
        </p:txBody>
      </p:sp>
      <p:sp>
        <p:nvSpPr>
          <p:cNvPr id="13" name="Text 8"/>
          <p:cNvSpPr/>
          <p:nvPr/>
        </p:nvSpPr>
        <p:spPr>
          <a:xfrm>
            <a:off x="14047956" y="6525444"/>
            <a:ext cx="3061083" cy="64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Sequential tasks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14047956" y="8038368"/>
            <a:ext cx="3594549" cy="64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Limited access for SMEs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14047956" y="9551293"/>
            <a:ext cx="3594549" cy="1190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Regulated but centralized</a:t>
            </a:r>
            <a:endParaRPr lang="en-US" sz="2400" dirty="0"/>
          </a:p>
        </p:txBody>
      </p:sp>
      <p:pic>
        <p:nvPicPr>
          <p:cNvPr id="58" name="Graphic 57">
            <a:extLst>
              <a:ext uri="{FF2B5EF4-FFF2-40B4-BE49-F238E27FC236}">
                <a16:creationId xmlns:a16="http://schemas.microsoft.com/office/drawing/2014/main" id="{1BC898BC-4FDF-42DE-A815-7BB94D3E9E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48368" y="4709933"/>
            <a:ext cx="13235054" cy="754518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047956" y="11064211"/>
            <a:ext cx="3594549" cy="64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General computing, business apps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18493511" y="6525444"/>
            <a:ext cx="3912089" cy="64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Parallel processing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18493511" y="8038368"/>
            <a:ext cx="3912089" cy="1190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Exponentially faster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18493511" y="9551293"/>
            <a:ext cx="3785073" cy="1190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Higher errors, needs stability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18493512" y="11064211"/>
            <a:ext cx="3514136" cy="1190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AI, cryptography, simulations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14047956" y="3454400"/>
            <a:ext cx="3188098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Classical Computing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18493511" y="3454400"/>
            <a:ext cx="3226203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Quantum Computing</a:t>
            </a:r>
            <a:endParaRPr lang="en-US" sz="2400" dirty="0"/>
          </a:p>
        </p:txBody>
      </p:sp>
      <p:pic>
        <p:nvPicPr>
          <p:cNvPr id="23" name="Image 3" descr=" 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736767" y="3371850"/>
            <a:ext cx="12702" cy="660400"/>
          </a:xfrm>
          <a:prstGeom prst="rect">
            <a:avLst/>
          </a:prstGeom>
        </p:spPr>
      </p:pic>
      <p:pic>
        <p:nvPicPr>
          <p:cNvPr id="24" name="Image 4" descr=" 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182323" y="3371850"/>
            <a:ext cx="12702" cy="6604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524191" y="4470400"/>
            <a:ext cx="6515914" cy="238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Traditional computers process data using bits (0s and 1s), while quantum computers use qubits, which leverage superposition and entanglement to perform complex calculations much faster.</a:t>
            </a:r>
            <a:endParaRPr lang="en-US" sz="2400" dirty="0"/>
          </a:p>
        </p:txBody>
      </p:sp>
      <p:sp>
        <p:nvSpPr>
          <p:cNvPr id="26" name="Text 19"/>
          <p:cNvSpPr/>
          <p:nvPr/>
        </p:nvSpPr>
        <p:spPr>
          <a:xfrm>
            <a:off x="1524191" y="2794000"/>
            <a:ext cx="6617527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What is Quantum Computing?</a:t>
            </a:r>
            <a:endParaRPr lang="en-US" sz="4800" dirty="0"/>
          </a:p>
        </p:txBody>
      </p:sp>
      <p:pic>
        <p:nvPicPr>
          <p:cNvPr id="27" name="Image 5" descr=" 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77010" y="8918949"/>
            <a:ext cx="1263808" cy="2295151"/>
          </a:xfrm>
          <a:prstGeom prst="rect">
            <a:avLst/>
          </a:prstGeom>
        </p:spPr>
      </p:pic>
      <p:pic>
        <p:nvPicPr>
          <p:cNvPr id="28" name="Image 6" descr=" 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40818" y="8918949"/>
            <a:ext cx="1263808" cy="2295151"/>
          </a:xfrm>
          <a:prstGeom prst="rect">
            <a:avLst/>
          </a:prstGeom>
        </p:spPr>
      </p:pic>
      <p:pic>
        <p:nvPicPr>
          <p:cNvPr id="29" name="Image 7" descr=" 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277010" y="8178800"/>
            <a:ext cx="2527616" cy="1524000"/>
          </a:xfrm>
          <a:prstGeom prst="rect">
            <a:avLst/>
          </a:prstGeom>
        </p:spPr>
      </p:pic>
      <p:pic>
        <p:nvPicPr>
          <p:cNvPr id="30" name="Image 8" descr=" 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540818" y="8856694"/>
            <a:ext cx="699527" cy="1270012"/>
          </a:xfrm>
          <a:prstGeom prst="rect">
            <a:avLst/>
          </a:prstGeom>
        </p:spPr>
      </p:pic>
      <p:pic>
        <p:nvPicPr>
          <p:cNvPr id="31" name="Image 9" descr=" 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841523" y="8856694"/>
            <a:ext cx="699294" cy="1270012"/>
          </a:xfrm>
          <a:prstGeom prst="rect">
            <a:avLst/>
          </a:prstGeom>
        </p:spPr>
      </p:pic>
      <p:pic>
        <p:nvPicPr>
          <p:cNvPr id="32" name="Image 10" descr=" 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841523" y="9716971"/>
            <a:ext cx="1398821" cy="819235"/>
          </a:xfrm>
          <a:prstGeom prst="rect">
            <a:avLst/>
          </a:prstGeom>
        </p:spPr>
      </p:pic>
      <p:pic>
        <p:nvPicPr>
          <p:cNvPr id="33" name="Image 11" descr=" 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676610" y="8106234"/>
            <a:ext cx="635079" cy="1153342"/>
          </a:xfrm>
          <a:prstGeom prst="rect">
            <a:avLst/>
          </a:prstGeom>
        </p:spPr>
      </p:pic>
      <p:pic>
        <p:nvPicPr>
          <p:cNvPr id="34" name="Image 12" descr=" 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311689" y="8106234"/>
            <a:ext cx="635079" cy="1153342"/>
          </a:xfrm>
          <a:prstGeom prst="rect">
            <a:avLst/>
          </a:prstGeom>
        </p:spPr>
      </p:pic>
      <p:pic>
        <p:nvPicPr>
          <p:cNvPr id="35" name="Image 13" descr=" 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676610" y="7734300"/>
            <a:ext cx="1270159" cy="765829"/>
          </a:xfrm>
          <a:prstGeom prst="rect">
            <a:avLst/>
          </a:prstGeom>
        </p:spPr>
      </p:pic>
      <p:pic>
        <p:nvPicPr>
          <p:cNvPr id="36" name="Image 14" descr=" 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311689" y="8074951"/>
            <a:ext cx="351520" cy="638197"/>
          </a:xfrm>
          <a:prstGeom prst="rect">
            <a:avLst/>
          </a:prstGeom>
        </p:spPr>
      </p:pic>
      <p:pic>
        <p:nvPicPr>
          <p:cNvPr id="37" name="Image 15" descr=" 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960284" y="8074951"/>
            <a:ext cx="351405" cy="638197"/>
          </a:xfrm>
          <a:prstGeom prst="rect">
            <a:avLst/>
          </a:prstGeom>
        </p:spPr>
      </p:pic>
      <p:pic>
        <p:nvPicPr>
          <p:cNvPr id="38" name="Image 16" descr=" "/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960284" y="8507250"/>
            <a:ext cx="702926" cy="411676"/>
          </a:xfrm>
          <a:prstGeom prst="rect">
            <a:avLst/>
          </a:prstGeom>
        </p:spPr>
      </p:pic>
      <p:pic>
        <p:nvPicPr>
          <p:cNvPr id="39" name="Image 17" descr=" 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134867" y="10824034"/>
            <a:ext cx="635079" cy="1153342"/>
          </a:xfrm>
          <a:prstGeom prst="rect">
            <a:avLst/>
          </a:prstGeom>
        </p:spPr>
      </p:pic>
      <p:pic>
        <p:nvPicPr>
          <p:cNvPr id="40" name="Image 18" descr=" 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769946" y="10824034"/>
            <a:ext cx="635079" cy="1153342"/>
          </a:xfrm>
          <a:prstGeom prst="rect">
            <a:avLst/>
          </a:prstGeom>
        </p:spPr>
      </p:pic>
      <p:pic>
        <p:nvPicPr>
          <p:cNvPr id="41" name="Image 19" descr=" 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6134867" y="10452100"/>
            <a:ext cx="1270159" cy="765829"/>
          </a:xfrm>
          <a:prstGeom prst="rect">
            <a:avLst/>
          </a:prstGeom>
        </p:spPr>
      </p:pic>
      <p:pic>
        <p:nvPicPr>
          <p:cNvPr id="42" name="Image 20" descr=" 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769946" y="10792751"/>
            <a:ext cx="351520" cy="638197"/>
          </a:xfrm>
          <a:prstGeom prst="rect">
            <a:avLst/>
          </a:prstGeom>
        </p:spPr>
      </p:pic>
      <p:pic>
        <p:nvPicPr>
          <p:cNvPr id="43" name="Image 21" descr=" 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418541" y="10792751"/>
            <a:ext cx="351405" cy="638197"/>
          </a:xfrm>
          <a:prstGeom prst="rect">
            <a:avLst/>
          </a:prstGeom>
        </p:spPr>
      </p:pic>
      <p:pic>
        <p:nvPicPr>
          <p:cNvPr id="44" name="Image 22" descr=" "/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6418541" y="11225051"/>
            <a:ext cx="702926" cy="411676"/>
          </a:xfrm>
          <a:prstGeom prst="rect">
            <a:avLst/>
          </a:prstGeom>
        </p:spPr>
      </p:pic>
      <p:sp>
        <p:nvSpPr>
          <p:cNvPr id="46" name="Text 20"/>
          <p:cNvSpPr/>
          <p:nvPr/>
        </p:nvSpPr>
        <p:spPr>
          <a:xfrm>
            <a:off x="1524191" y="1447800"/>
            <a:ext cx="2015319" cy="414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Medium" pitchFamily="34" charset="0"/>
                <a:ea typeface="Plus Jakarta Sans Medium" pitchFamily="34" charset="-122"/>
                <a:cs typeface="Plus Jakarta Sans Medium" pitchFamily="34" charset="-120"/>
              </a:rPr>
              <a:t>Pitch Deck</a:t>
            </a: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 2025</a:t>
            </a:r>
            <a:endParaRPr lang="en-US" sz="2000" dirty="0"/>
          </a:p>
        </p:txBody>
      </p:sp>
      <p:sp>
        <p:nvSpPr>
          <p:cNvPr id="47" name="Shape 21"/>
          <p:cNvSpPr/>
          <p:nvPr/>
        </p:nvSpPr>
        <p:spPr>
          <a:xfrm>
            <a:off x="22354794" y="1629832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8" name="Shape 22"/>
          <p:cNvSpPr/>
          <p:nvPr/>
        </p:nvSpPr>
        <p:spPr>
          <a:xfrm>
            <a:off x="22625760" y="1629832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9" name="Shape 23"/>
          <p:cNvSpPr/>
          <p:nvPr/>
        </p:nvSpPr>
        <p:spPr>
          <a:xfrm>
            <a:off x="22761245" y="1528232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0" name="Shape 24"/>
          <p:cNvSpPr/>
          <p:nvPr/>
        </p:nvSpPr>
        <p:spPr>
          <a:xfrm>
            <a:off x="22473341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6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4534133"/>
            <a:ext cx="24387048" cy="8057899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1524191" y="4470400"/>
            <a:ext cx="6515914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Overview of key milestones in quantum computing, from early theoretical foundations to modern advancements.</a:t>
            </a:r>
            <a:endParaRPr lang="en-US" sz="2400" dirty="0"/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272E1D96-8FCE-4823-880C-2E2166C952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058613" y="2794000"/>
            <a:ext cx="5791160" cy="18415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15025978" y="11036300"/>
            <a:ext cx="7896154" cy="122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kern="0" spc="-20" dirty="0">
                <a:solidFill>
                  <a:srgbClr val="FFFFFF">
                    <a:alpha val="4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Illustrates the evolution of quantum computing, marking breakthroughs in quantum algorithms, superconducting qubits, and industrial applications.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524191" y="2794000"/>
            <a:ext cx="6617527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History &amp; Evolution of Quantum Computing</a:t>
            </a:r>
            <a:endParaRPr lang="en-US" sz="4800" dirty="0"/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A1BA372D-5B44-40B1-918C-AA3B929E9B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35136" y="4890190"/>
            <a:ext cx="5791160" cy="184150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2FF5DC81-91B4-49EA-907C-4B59B00329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4190" y="9080501"/>
            <a:ext cx="5957045" cy="1841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24191" y="1447800"/>
            <a:ext cx="2015319" cy="414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Medium" pitchFamily="34" charset="0"/>
                <a:ea typeface="Plus Jakarta Sans Medium" pitchFamily="34" charset="-122"/>
                <a:cs typeface="Plus Jakarta Sans Medium" pitchFamily="34" charset="-120"/>
              </a:rPr>
              <a:t>Pitch Deck</a:t>
            </a: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 2025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22354794" y="1629832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8" name="Shape 5"/>
          <p:cNvSpPr/>
          <p:nvPr/>
        </p:nvSpPr>
        <p:spPr>
          <a:xfrm>
            <a:off x="22625763" y="1629832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4B3A8AD0-D6E0-4452-93BA-A525831610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2606" y="6991350"/>
            <a:ext cx="5791160" cy="18415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2761245" y="1528232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0" name="Shape 7"/>
          <p:cNvSpPr/>
          <p:nvPr/>
        </p:nvSpPr>
        <p:spPr>
          <a:xfrm>
            <a:off x="22473344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3" name="Text 8"/>
          <p:cNvSpPr/>
          <p:nvPr/>
        </p:nvSpPr>
        <p:spPr>
          <a:xfrm>
            <a:off x="2032254" y="9334500"/>
            <a:ext cx="5067933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000" kern="0" spc="-30" dirty="0">
                <a:solidFill>
                  <a:srgbClr val="FFFFFF">
                    <a:alpha val="6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1950s-1980s</a:t>
            </a:r>
            <a:endParaRPr lang="en-US" sz="3000" dirty="0"/>
          </a:p>
        </p:txBody>
      </p:sp>
      <p:sp>
        <p:nvSpPr>
          <p:cNvPr id="14" name="Text 9"/>
          <p:cNvSpPr/>
          <p:nvPr/>
        </p:nvSpPr>
        <p:spPr>
          <a:xfrm>
            <a:off x="2032254" y="9906000"/>
            <a:ext cx="5025595" cy="846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kern="0" spc="-20" dirty="0">
                <a:solidFill>
                  <a:srgbClr val="FFFFFF">
                    <a:alpha val="6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Quantum theory applied, Richard Feynman proposes quantum computing.</a:t>
            </a:r>
            <a:endParaRPr lang="en-US" sz="2000" dirty="0"/>
          </a:p>
        </p:txBody>
      </p:sp>
      <p:sp>
        <p:nvSpPr>
          <p:cNvPr id="16" name="Text 10"/>
          <p:cNvSpPr/>
          <p:nvPr/>
        </p:nvSpPr>
        <p:spPr>
          <a:xfrm>
            <a:off x="7239905" y="7239000"/>
            <a:ext cx="4902813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000" kern="0" spc="-30" dirty="0">
                <a:solidFill>
                  <a:srgbClr val="FFFFFF">
                    <a:alpha val="6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1994s</a:t>
            </a:r>
            <a:endParaRPr lang="en-US" sz="3000" dirty="0"/>
          </a:p>
        </p:txBody>
      </p:sp>
      <p:sp>
        <p:nvSpPr>
          <p:cNvPr id="17" name="Text 11"/>
          <p:cNvSpPr/>
          <p:nvPr/>
        </p:nvSpPr>
        <p:spPr>
          <a:xfrm>
            <a:off x="7239905" y="7810500"/>
            <a:ext cx="4860474" cy="846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kern="0" spc="-20" dirty="0">
                <a:solidFill>
                  <a:srgbClr val="FFFFFF">
                    <a:alpha val="6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Shor’s Algorithm proves quantum advantage in cryptography.</a:t>
            </a:r>
            <a:endParaRPr lang="en-US" sz="2000" dirty="0"/>
          </a:p>
        </p:txBody>
      </p:sp>
      <p:sp>
        <p:nvSpPr>
          <p:cNvPr id="19" name="Text 12"/>
          <p:cNvSpPr/>
          <p:nvPr/>
        </p:nvSpPr>
        <p:spPr>
          <a:xfrm>
            <a:off x="12549168" y="5143500"/>
            <a:ext cx="4902813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000" kern="0" spc="-30" dirty="0">
                <a:solidFill>
                  <a:srgbClr val="FFFFFF">
                    <a:alpha val="6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2000s</a:t>
            </a:r>
            <a:endParaRPr lang="en-US" sz="3000" dirty="0"/>
          </a:p>
        </p:txBody>
      </p:sp>
      <p:sp>
        <p:nvSpPr>
          <p:cNvPr id="20" name="Text 13"/>
          <p:cNvSpPr/>
          <p:nvPr/>
        </p:nvSpPr>
        <p:spPr>
          <a:xfrm>
            <a:off x="12549168" y="5715000"/>
            <a:ext cx="4377814" cy="846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kern="0" spc="-20" dirty="0">
                <a:solidFill>
                  <a:srgbClr val="FFFFFF">
                    <a:alpha val="6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Superconducting qubits enable experimental quantum computers.</a:t>
            </a:r>
            <a:endParaRPr lang="en-US" sz="2000" dirty="0"/>
          </a:p>
        </p:txBody>
      </p:sp>
      <p:sp>
        <p:nvSpPr>
          <p:cNvPr id="22" name="Text 14"/>
          <p:cNvSpPr/>
          <p:nvPr/>
        </p:nvSpPr>
        <p:spPr>
          <a:xfrm>
            <a:off x="17566296" y="3048000"/>
            <a:ext cx="4902813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000" kern="0" spc="-30" dirty="0">
                <a:solidFill>
                  <a:srgbClr val="FFFFFF">
                    <a:alpha val="6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2019-Present</a:t>
            </a:r>
            <a:endParaRPr lang="en-US" sz="3000" dirty="0"/>
          </a:p>
        </p:txBody>
      </p:sp>
      <p:sp>
        <p:nvSpPr>
          <p:cNvPr id="23" name="Text 15"/>
          <p:cNvSpPr/>
          <p:nvPr/>
        </p:nvSpPr>
        <p:spPr>
          <a:xfrm>
            <a:off x="17566296" y="3619500"/>
            <a:ext cx="4860474" cy="846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kern="0" spc="-20" dirty="0">
                <a:solidFill>
                  <a:srgbClr val="FFFFFF">
                    <a:alpha val="6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Google achieves quantum supremacy, industry scales quantum processors.</a:t>
            </a:r>
            <a:endParaRPr lang="en-US" sz="2000" dirty="0"/>
          </a:p>
        </p:txBody>
      </p:sp>
      <p:sp>
        <p:nvSpPr>
          <p:cNvPr id="25" name="Shape 16"/>
          <p:cNvSpPr/>
          <p:nvPr/>
        </p:nvSpPr>
        <p:spPr>
          <a:xfrm>
            <a:off x="4305838" y="11036300"/>
            <a:ext cx="203225" cy="127635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pic>
        <p:nvPicPr>
          <p:cNvPr id="26" name="Image 7" descr=" 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01100" y="11029950"/>
            <a:ext cx="12702" cy="121285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4305838" y="12109450"/>
            <a:ext cx="203225" cy="203200"/>
          </a:xfrm>
          <a:prstGeom prst="ellipse">
            <a:avLst/>
          </a:prstGeom>
          <a:solidFill>
            <a:srgbClr val="59C5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8" name="Shape 18"/>
          <p:cNvSpPr/>
          <p:nvPr/>
        </p:nvSpPr>
        <p:spPr>
          <a:xfrm>
            <a:off x="9526191" y="9436100"/>
            <a:ext cx="203225" cy="16002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pic>
        <p:nvPicPr>
          <p:cNvPr id="29" name="Image 8" descr=" 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21453" y="9429750"/>
            <a:ext cx="12702" cy="1536700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9526191" y="10833100"/>
            <a:ext cx="203225" cy="203200"/>
          </a:xfrm>
          <a:prstGeom prst="ellipse">
            <a:avLst/>
          </a:prstGeom>
          <a:solidFill>
            <a:srgbClr val="59C5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1" name="Shape 20"/>
          <p:cNvSpPr/>
          <p:nvPr/>
        </p:nvSpPr>
        <p:spPr>
          <a:xfrm>
            <a:off x="14835454" y="7035800"/>
            <a:ext cx="203225" cy="127635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pic>
        <p:nvPicPr>
          <p:cNvPr id="32" name="Image 9" descr=" 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930716" y="7029450"/>
            <a:ext cx="12702" cy="1212850"/>
          </a:xfrm>
          <a:prstGeom prst="rect">
            <a:avLst/>
          </a:prstGeom>
        </p:spPr>
      </p:pic>
      <p:sp>
        <p:nvSpPr>
          <p:cNvPr id="33" name="Shape 21"/>
          <p:cNvSpPr/>
          <p:nvPr/>
        </p:nvSpPr>
        <p:spPr>
          <a:xfrm>
            <a:off x="14835454" y="8108950"/>
            <a:ext cx="203225" cy="203200"/>
          </a:xfrm>
          <a:prstGeom prst="ellipse">
            <a:avLst/>
          </a:prstGeom>
          <a:solidFill>
            <a:srgbClr val="59C5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4" name="Shape 22"/>
          <p:cNvSpPr/>
          <p:nvPr/>
        </p:nvSpPr>
        <p:spPr>
          <a:xfrm>
            <a:off x="19852581" y="4800600"/>
            <a:ext cx="203225" cy="127635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pic>
        <p:nvPicPr>
          <p:cNvPr id="35" name="Image 10" descr=" 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947843" y="4794250"/>
            <a:ext cx="12702" cy="1212850"/>
          </a:xfrm>
          <a:prstGeom prst="rect">
            <a:avLst/>
          </a:prstGeom>
        </p:spPr>
      </p:pic>
      <p:sp>
        <p:nvSpPr>
          <p:cNvPr id="36" name="Shape 23"/>
          <p:cNvSpPr/>
          <p:nvPr/>
        </p:nvSpPr>
        <p:spPr>
          <a:xfrm>
            <a:off x="19852581" y="5873750"/>
            <a:ext cx="203225" cy="203200"/>
          </a:xfrm>
          <a:prstGeom prst="ellipse">
            <a:avLst/>
          </a:prstGeom>
          <a:solidFill>
            <a:srgbClr val="59C5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191" y="3810000"/>
            <a:ext cx="1064393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Classical computers struggle with highly complex calculations that involve massive datasets and exponential variables. Quantum computing unlocks new possibilities by solving these problems exponentially faster.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524191" y="2794000"/>
            <a:ext cx="10745543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Why Quantum Computing Matters?</a:t>
            </a:r>
            <a:endParaRPr lang="en-US" sz="4800" dirty="0"/>
          </a:p>
        </p:txBody>
      </p:sp>
      <p:pic>
        <p:nvPicPr>
          <p:cNvPr id="4" name="Image 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4191" y="5715000"/>
            <a:ext cx="11723565" cy="1066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56044" y="6064250"/>
            <a:ext cx="2184673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Cryptography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293137" y="6019800"/>
            <a:ext cx="768446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6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Strengthens encryption, breaking classical methods.</a:t>
            </a:r>
            <a:endParaRPr lang="en-US" sz="2400" dirty="0"/>
          </a:p>
        </p:txBody>
      </p:sp>
      <p:pic>
        <p:nvPicPr>
          <p:cNvPr id="7" name="Image 1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4191" y="7035800"/>
            <a:ext cx="11723565" cy="1066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56044" y="7385050"/>
            <a:ext cx="2413302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Drug Discovery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4521765" y="7340600"/>
            <a:ext cx="768446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6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Speeds up molecular simulations for new medicines.</a:t>
            </a:r>
            <a:endParaRPr lang="en-US" sz="2400" dirty="0"/>
          </a:p>
        </p:txBody>
      </p:sp>
      <p:pic>
        <p:nvPicPr>
          <p:cNvPr id="10" name="Image 2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24191" y="8356600"/>
            <a:ext cx="11723565" cy="10668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956044" y="8705850"/>
            <a:ext cx="2908664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Financial Modeling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5017127" y="8661400"/>
            <a:ext cx="79384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6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Improves risk analysis, fraud detection, and forecasting.</a:t>
            </a:r>
            <a:endParaRPr lang="en-US" sz="2400" dirty="0"/>
          </a:p>
        </p:txBody>
      </p:sp>
      <p:pic>
        <p:nvPicPr>
          <p:cNvPr id="13" name="Image 3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24191" y="9677400"/>
            <a:ext cx="11723565" cy="10668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956044" y="10026650"/>
            <a:ext cx="2768946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Materials Science</a:t>
            </a:r>
            <a:endParaRPr lang="en-US" sz="2400" dirty="0"/>
          </a:p>
        </p:txBody>
      </p:sp>
      <p:sp>
        <p:nvSpPr>
          <p:cNvPr id="15" name="Text 9"/>
          <p:cNvSpPr/>
          <p:nvPr/>
        </p:nvSpPr>
        <p:spPr>
          <a:xfrm>
            <a:off x="4877410" y="9982200"/>
            <a:ext cx="768446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6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Optimizes superconductors and battery design.</a:t>
            </a:r>
            <a:endParaRPr lang="en-US" sz="2400" dirty="0"/>
          </a:p>
        </p:txBody>
      </p:sp>
      <p:pic>
        <p:nvPicPr>
          <p:cNvPr id="16" name="Image 4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24191" y="10998200"/>
            <a:ext cx="11723565" cy="10668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956044" y="11347450"/>
            <a:ext cx="3213502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Artificial Intelligence</a:t>
            </a:r>
            <a:endParaRPr lang="en-US" sz="2400" dirty="0"/>
          </a:p>
        </p:txBody>
      </p:sp>
      <p:sp>
        <p:nvSpPr>
          <p:cNvPr id="18" name="Text 11"/>
          <p:cNvSpPr/>
          <p:nvPr/>
        </p:nvSpPr>
        <p:spPr>
          <a:xfrm>
            <a:off x="5321965" y="11303000"/>
            <a:ext cx="768446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6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Speeds up machine learning and optimizations.</a:t>
            </a:r>
            <a:endParaRPr lang="en-US" sz="2400" dirty="0"/>
          </a:p>
        </p:txBody>
      </p:sp>
      <p:sp>
        <p:nvSpPr>
          <p:cNvPr id="20" name="Text 12"/>
          <p:cNvSpPr/>
          <p:nvPr/>
        </p:nvSpPr>
        <p:spPr>
          <a:xfrm>
            <a:off x="1524191" y="1447800"/>
            <a:ext cx="2015319" cy="414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Medium" pitchFamily="34" charset="0"/>
                <a:ea typeface="Plus Jakarta Sans Medium" pitchFamily="34" charset="-122"/>
                <a:cs typeface="Plus Jakarta Sans Medium" pitchFamily="34" charset="-120"/>
              </a:rPr>
              <a:t>Pitch Deck</a:t>
            </a: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 2025</a:t>
            </a:r>
            <a:endParaRPr lang="en-US" sz="2000" dirty="0"/>
          </a:p>
        </p:txBody>
      </p:sp>
      <p:sp>
        <p:nvSpPr>
          <p:cNvPr id="21" name="Shape 13"/>
          <p:cNvSpPr/>
          <p:nvPr/>
        </p:nvSpPr>
        <p:spPr>
          <a:xfrm>
            <a:off x="22354794" y="1629832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2" name="Shape 14"/>
          <p:cNvSpPr/>
          <p:nvPr/>
        </p:nvSpPr>
        <p:spPr>
          <a:xfrm>
            <a:off x="22625763" y="1629832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3" name="Shape 15"/>
          <p:cNvSpPr/>
          <p:nvPr/>
        </p:nvSpPr>
        <p:spPr>
          <a:xfrm>
            <a:off x="22761245" y="1528232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4" name="Shape 16"/>
          <p:cNvSpPr/>
          <p:nvPr/>
        </p:nvSpPr>
        <p:spPr>
          <a:xfrm>
            <a:off x="22473344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6" name="Shape 17"/>
          <p:cNvSpPr/>
          <p:nvPr/>
        </p:nvSpPr>
        <p:spPr>
          <a:xfrm>
            <a:off x="14263883" y="3296952"/>
            <a:ext cx="8344943" cy="8343900"/>
          </a:xfrm>
          <a:prstGeom prst="ellipse">
            <a:avLst/>
          </a:prstGeom>
          <a:solidFill>
            <a:srgbClr val="D9D9D9">
              <a:alpha val="1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7" name="Shape 18"/>
          <p:cNvSpPr/>
          <p:nvPr/>
        </p:nvSpPr>
        <p:spPr>
          <a:xfrm>
            <a:off x="13806626" y="2788952"/>
            <a:ext cx="9272159" cy="9271000"/>
          </a:xfrm>
          <a:prstGeom prst="ellipse">
            <a:avLst/>
          </a:prstGeom>
          <a:solidFill>
            <a:srgbClr val="D9D9D9">
              <a:alpha val="1000"/>
            </a:srgbClr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28" name="Image 7" descr=" 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442705" y="4484402"/>
            <a:ext cx="25403" cy="1289050"/>
          </a:xfrm>
          <a:prstGeom prst="rect">
            <a:avLst/>
          </a:prstGeom>
        </p:spPr>
      </p:pic>
      <p:pic>
        <p:nvPicPr>
          <p:cNvPr id="29" name="Image 8" descr=" 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7144718" y="6009001"/>
            <a:ext cx="2595974" cy="2957905"/>
          </a:xfrm>
          <a:prstGeom prst="rect">
            <a:avLst/>
          </a:prstGeom>
        </p:spPr>
      </p:pic>
      <p:pic>
        <p:nvPicPr>
          <p:cNvPr id="30" name="Image 9" descr=" 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783845" y="5729601"/>
            <a:ext cx="3317719" cy="3618305"/>
          </a:xfrm>
          <a:prstGeom prst="rect">
            <a:avLst/>
          </a:prstGeom>
        </p:spPr>
      </p:pic>
      <p:pic>
        <p:nvPicPr>
          <p:cNvPr id="31" name="Image 10" descr=" 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7629803" y="6993474"/>
            <a:ext cx="812902" cy="1459678"/>
          </a:xfrm>
          <a:prstGeom prst="rect">
            <a:avLst/>
          </a:prstGeom>
        </p:spPr>
      </p:pic>
      <p:pic>
        <p:nvPicPr>
          <p:cNvPr id="32" name="Image 11" descr=" 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8442711" y="6993474"/>
            <a:ext cx="812902" cy="1459678"/>
          </a:xfrm>
          <a:prstGeom prst="rect">
            <a:avLst/>
          </a:prstGeom>
        </p:spPr>
      </p:pic>
      <p:pic>
        <p:nvPicPr>
          <p:cNvPr id="33" name="Image 12" descr=" 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7629803" y="6522752"/>
            <a:ext cx="1625803" cy="969237"/>
          </a:xfrm>
          <a:prstGeom prst="rect">
            <a:avLst/>
          </a:prstGeom>
        </p:spPr>
      </p:pic>
      <p:pic>
        <p:nvPicPr>
          <p:cNvPr id="34" name="Image 13" descr=" 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8442711" y="6953879"/>
            <a:ext cx="449945" cy="807706"/>
          </a:xfrm>
          <a:prstGeom prst="rect">
            <a:avLst/>
          </a:prstGeom>
        </p:spPr>
      </p:pic>
      <p:pic>
        <p:nvPicPr>
          <p:cNvPr id="35" name="Image 14" descr=" 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7992909" y="6953879"/>
            <a:ext cx="449796" cy="807706"/>
          </a:xfrm>
          <a:prstGeom prst="rect">
            <a:avLst/>
          </a:prstGeom>
        </p:spPr>
      </p:pic>
      <p:pic>
        <p:nvPicPr>
          <p:cNvPr id="36" name="Image 15" descr=" 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7992909" y="7501003"/>
            <a:ext cx="899741" cy="521021"/>
          </a:xfrm>
          <a:prstGeom prst="rect">
            <a:avLst/>
          </a:prstGeom>
        </p:spPr>
      </p:pic>
      <p:pic>
        <p:nvPicPr>
          <p:cNvPr id="37" name="Image 16" descr=" 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5300675" y="4152432"/>
            <a:ext cx="6309464" cy="6012318"/>
          </a:xfrm>
          <a:prstGeom prst="rect">
            <a:avLst/>
          </a:prstGeom>
        </p:spPr>
      </p:pic>
      <p:pic>
        <p:nvPicPr>
          <p:cNvPr id="38" name="Image 17" descr=" "/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5567098" y="6472997"/>
            <a:ext cx="1395878" cy="621258"/>
          </a:xfrm>
          <a:prstGeom prst="rect">
            <a:avLst/>
          </a:prstGeom>
        </p:spPr>
      </p:pic>
      <p:pic>
        <p:nvPicPr>
          <p:cNvPr id="39" name="Image 18" descr=" 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9890680" y="6473084"/>
            <a:ext cx="1434175" cy="665621"/>
          </a:xfrm>
          <a:prstGeom prst="rect">
            <a:avLst/>
          </a:prstGeom>
        </p:spPr>
      </p:pic>
      <p:pic>
        <p:nvPicPr>
          <p:cNvPr id="40" name="Image 19" descr=" "/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6380831" y="8719851"/>
            <a:ext cx="848873" cy="1257996"/>
          </a:xfrm>
          <a:prstGeom prst="rect">
            <a:avLst/>
          </a:prstGeom>
        </p:spPr>
      </p:pic>
      <p:pic>
        <p:nvPicPr>
          <p:cNvPr id="41" name="Image 20" descr=" "/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9662057" y="8719851"/>
            <a:ext cx="848873" cy="1257996"/>
          </a:xfrm>
          <a:prstGeom prst="rect">
            <a:avLst/>
          </a:prstGeom>
        </p:spPr>
      </p:pic>
      <p:pic>
        <p:nvPicPr>
          <p:cNvPr id="42" name="Image 21" descr=" "/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4563183" y="3390432"/>
            <a:ext cx="7759045" cy="7390789"/>
          </a:xfrm>
          <a:prstGeom prst="rect">
            <a:avLst/>
          </a:prstGeom>
        </p:spPr>
      </p:pic>
      <p:pic>
        <p:nvPicPr>
          <p:cNvPr id="43" name="Image 22" descr=" "/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6576769" y="2806700"/>
            <a:ext cx="3731873" cy="3469704"/>
          </a:xfrm>
          <a:prstGeom prst="rect">
            <a:avLst/>
          </a:prstGeom>
        </p:spPr>
      </p:pic>
      <p:pic>
        <p:nvPicPr>
          <p:cNvPr id="44" name="Image 23" descr=" "/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8739890" y="8416248"/>
            <a:ext cx="3470138" cy="3731413"/>
          </a:xfrm>
          <a:prstGeom prst="rect">
            <a:avLst/>
          </a:prstGeom>
        </p:spPr>
      </p:pic>
      <p:pic>
        <p:nvPicPr>
          <p:cNvPr id="45" name="Image 24" descr=" "/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4649979" y="8416248"/>
            <a:ext cx="3470138" cy="3731413"/>
          </a:xfrm>
          <a:prstGeom prst="rect">
            <a:avLst/>
          </a:prstGeom>
        </p:spPr>
      </p:pic>
      <p:pic>
        <p:nvPicPr>
          <p:cNvPr id="46" name="Image 25" descr=" "/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3604597" y="4927600"/>
            <a:ext cx="3731873" cy="3469704"/>
          </a:xfrm>
          <a:prstGeom prst="rect">
            <a:avLst/>
          </a:prstGeom>
        </p:spPr>
      </p:pic>
      <p:pic>
        <p:nvPicPr>
          <p:cNvPr id="47" name="Image 26" descr=" "/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19714061" y="4927600"/>
            <a:ext cx="3731873" cy="3469704"/>
          </a:xfrm>
          <a:prstGeom prst="rect">
            <a:avLst/>
          </a:prstGeom>
        </p:spPr>
      </p:pic>
      <p:sp>
        <p:nvSpPr>
          <p:cNvPr id="48" name="Shape 19"/>
          <p:cNvSpPr/>
          <p:nvPr/>
        </p:nvSpPr>
        <p:spPr>
          <a:xfrm>
            <a:off x="20098960" y="9652000"/>
            <a:ext cx="762095" cy="76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pic>
        <p:nvPicPr>
          <p:cNvPr id="49" name="Image 27" descr=" "/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20200573" y="9753600"/>
            <a:ext cx="558870" cy="558800"/>
          </a:xfrm>
          <a:prstGeom prst="rect">
            <a:avLst/>
          </a:prstGeom>
        </p:spPr>
      </p:pic>
      <p:sp>
        <p:nvSpPr>
          <p:cNvPr id="50" name="Shape 20"/>
          <p:cNvSpPr/>
          <p:nvPr/>
        </p:nvSpPr>
        <p:spPr>
          <a:xfrm>
            <a:off x="21203998" y="6032500"/>
            <a:ext cx="762095" cy="76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pic>
        <p:nvPicPr>
          <p:cNvPr id="51" name="Image 28" descr=" "/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21283383" y="6134100"/>
            <a:ext cx="590624" cy="558800"/>
          </a:xfrm>
          <a:prstGeom prst="rect">
            <a:avLst/>
          </a:prstGeom>
        </p:spPr>
      </p:pic>
      <p:sp>
        <p:nvSpPr>
          <p:cNvPr id="52" name="Shape 21"/>
          <p:cNvSpPr/>
          <p:nvPr/>
        </p:nvSpPr>
        <p:spPr>
          <a:xfrm>
            <a:off x="18079407" y="3911600"/>
            <a:ext cx="762095" cy="76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pic>
        <p:nvPicPr>
          <p:cNvPr id="53" name="Image 29" descr=" "/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18206423" y="4013200"/>
            <a:ext cx="508063" cy="558800"/>
          </a:xfrm>
          <a:prstGeom prst="rect">
            <a:avLst/>
          </a:prstGeom>
        </p:spPr>
      </p:pic>
      <p:sp>
        <p:nvSpPr>
          <p:cNvPr id="54" name="Shape 22"/>
          <p:cNvSpPr/>
          <p:nvPr/>
        </p:nvSpPr>
        <p:spPr>
          <a:xfrm>
            <a:off x="15094534" y="6032500"/>
            <a:ext cx="762095" cy="76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pic>
        <p:nvPicPr>
          <p:cNvPr id="55" name="Image 30" descr=" "/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15234252" y="6134100"/>
            <a:ext cx="482660" cy="558800"/>
          </a:xfrm>
          <a:prstGeom prst="rect">
            <a:avLst/>
          </a:prstGeom>
        </p:spPr>
      </p:pic>
      <p:sp>
        <p:nvSpPr>
          <p:cNvPr id="56" name="Shape 23"/>
          <p:cNvSpPr/>
          <p:nvPr/>
        </p:nvSpPr>
        <p:spPr>
          <a:xfrm>
            <a:off x="16009049" y="9652000"/>
            <a:ext cx="762095" cy="762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pic>
        <p:nvPicPr>
          <p:cNvPr id="57" name="Image 31" descr=" "/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16110661" y="9753600"/>
            <a:ext cx="558870" cy="55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191" y="4470400"/>
            <a:ext cx="9246756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Quantum computers operate using fundamental quantum mechanics principles that differentiate them from classical computers.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524191" y="2794000"/>
            <a:ext cx="7659057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Key Principles of Quantum Computing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524191" y="6515100"/>
            <a:ext cx="9145143" cy="14351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1524191" y="6515100"/>
            <a:ext cx="2210076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Superposition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24191" y="7035800"/>
            <a:ext cx="924675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7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Qubits exist in multiple states (0 &amp; 1) simultaneously, enabling massive parallelism.</a:t>
            </a:r>
            <a:endParaRPr lang="en-US" sz="2400" dirty="0"/>
          </a:p>
        </p:txBody>
      </p:sp>
      <p:pic>
        <p:nvPicPr>
          <p:cNvPr id="7" name="Image 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4191" y="8197850"/>
            <a:ext cx="8675184" cy="127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524191" y="8458200"/>
            <a:ext cx="9145143" cy="14351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sp>
        <p:nvSpPr>
          <p:cNvPr id="9" name="Text 6"/>
          <p:cNvSpPr/>
          <p:nvPr/>
        </p:nvSpPr>
        <p:spPr>
          <a:xfrm>
            <a:off x="1524191" y="8458200"/>
            <a:ext cx="2197375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Entanglement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524191" y="8978900"/>
            <a:ext cx="924675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7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Interconnected qubits affect each other instantly, improving computational efficiency.</a:t>
            </a:r>
            <a:endParaRPr lang="en-US" sz="2400" dirty="0"/>
          </a:p>
        </p:txBody>
      </p:sp>
      <p:pic>
        <p:nvPicPr>
          <p:cNvPr id="11" name="Image 1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4191" y="10140950"/>
            <a:ext cx="8675184" cy="127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24191" y="10401300"/>
            <a:ext cx="2438705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Quantum Gates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1524191" y="10922000"/>
            <a:ext cx="924675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7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Special quantum operations (Hadamard, Pauli, CNOT) manipulate qubits for computations.</a:t>
            </a:r>
            <a:endParaRPr lang="en-US" sz="2400" dirty="0"/>
          </a:p>
        </p:txBody>
      </p:sp>
      <p:pic>
        <p:nvPicPr>
          <p:cNvPr id="15" name="Image 3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118162" y="5443038"/>
            <a:ext cx="1675915" cy="4785723"/>
          </a:xfrm>
          <a:prstGeom prst="rect">
            <a:avLst/>
          </a:prstGeom>
        </p:spPr>
      </p:pic>
      <p:pic>
        <p:nvPicPr>
          <p:cNvPr id="16" name="Image 4" descr=" 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557867" y="5443038"/>
            <a:ext cx="1675915" cy="4785723"/>
          </a:xfrm>
          <a:prstGeom prst="rect">
            <a:avLst/>
          </a:prstGeom>
        </p:spPr>
      </p:pic>
      <p:pic>
        <p:nvPicPr>
          <p:cNvPr id="17" name="Image 5" descr=" 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759358" y="9188614"/>
            <a:ext cx="4820525" cy="2387271"/>
          </a:xfrm>
          <a:prstGeom prst="rect">
            <a:avLst/>
          </a:prstGeom>
        </p:spPr>
      </p:pic>
      <p:pic>
        <p:nvPicPr>
          <p:cNvPr id="18" name="Image 6" descr=" 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759358" y="9188614"/>
            <a:ext cx="4820525" cy="2387271"/>
          </a:xfrm>
          <a:prstGeom prst="rect">
            <a:avLst/>
          </a:prstGeom>
        </p:spPr>
      </p:pic>
      <p:pic>
        <p:nvPicPr>
          <p:cNvPr id="19" name="Image 7" descr=" 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5759358" y="9010814"/>
            <a:ext cx="4820525" cy="2387271"/>
          </a:xfrm>
          <a:prstGeom prst="rect">
            <a:avLst/>
          </a:prstGeom>
        </p:spPr>
      </p:pic>
      <p:pic>
        <p:nvPicPr>
          <p:cNvPr id="20" name="Image 8" descr=" 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5046246" y="6509693"/>
            <a:ext cx="6246750" cy="3071515"/>
          </a:xfrm>
          <a:prstGeom prst="rect">
            <a:avLst/>
          </a:prstGeom>
        </p:spPr>
      </p:pic>
      <p:pic>
        <p:nvPicPr>
          <p:cNvPr id="21" name="Image 9" descr=" 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5046246" y="6306493"/>
            <a:ext cx="6246750" cy="3071515"/>
          </a:xfrm>
          <a:prstGeom prst="rect">
            <a:avLst/>
          </a:prstGeom>
        </p:spPr>
      </p:pic>
      <p:pic>
        <p:nvPicPr>
          <p:cNvPr id="22" name="Image 10" descr=" 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3979077" y="3131592"/>
            <a:ext cx="8381088" cy="4087316"/>
          </a:xfrm>
          <a:prstGeom prst="rect">
            <a:avLst/>
          </a:prstGeom>
        </p:spPr>
      </p:pic>
      <p:pic>
        <p:nvPicPr>
          <p:cNvPr id="23" name="Image 11" descr=" 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3979077" y="2902992"/>
            <a:ext cx="8381088" cy="4087316"/>
          </a:xfrm>
          <a:prstGeom prst="rect">
            <a:avLst/>
          </a:prstGeom>
        </p:spPr>
      </p:pic>
      <p:sp>
        <p:nvSpPr>
          <p:cNvPr id="24" name="Text 10"/>
          <p:cNvSpPr/>
          <p:nvPr/>
        </p:nvSpPr>
        <p:spPr>
          <a:xfrm>
            <a:off x="17147143" y="4533900"/>
            <a:ext cx="2146568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Superposition</a:t>
            </a:r>
            <a:endParaRPr lang="en-US" sz="2400" dirty="0"/>
          </a:p>
        </p:txBody>
      </p:sp>
      <p:sp>
        <p:nvSpPr>
          <p:cNvPr id="25" name="Text 11"/>
          <p:cNvSpPr/>
          <p:nvPr/>
        </p:nvSpPr>
        <p:spPr>
          <a:xfrm>
            <a:off x="17147143" y="7594600"/>
            <a:ext cx="215927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Entanglement</a:t>
            </a:r>
            <a:endParaRPr lang="en-US" sz="2400" dirty="0"/>
          </a:p>
        </p:txBody>
      </p:sp>
      <p:sp>
        <p:nvSpPr>
          <p:cNvPr id="26" name="Text 12"/>
          <p:cNvSpPr/>
          <p:nvPr/>
        </p:nvSpPr>
        <p:spPr>
          <a:xfrm>
            <a:off x="17007426" y="10033000"/>
            <a:ext cx="2426003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Quantum Gates</a:t>
            </a:r>
            <a:endParaRPr lang="en-US" sz="2400" dirty="0"/>
          </a:p>
        </p:txBody>
      </p:sp>
      <p:sp>
        <p:nvSpPr>
          <p:cNvPr id="28" name="Text 13"/>
          <p:cNvSpPr/>
          <p:nvPr/>
        </p:nvSpPr>
        <p:spPr>
          <a:xfrm>
            <a:off x="1524191" y="1447800"/>
            <a:ext cx="2015319" cy="414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Medium" pitchFamily="34" charset="0"/>
                <a:ea typeface="Plus Jakarta Sans Medium" pitchFamily="34" charset="-122"/>
                <a:cs typeface="Plus Jakarta Sans Medium" pitchFamily="34" charset="-120"/>
              </a:rPr>
              <a:t>Pitch Deck</a:t>
            </a: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 2025</a:t>
            </a:r>
            <a:endParaRPr lang="en-US" sz="2000" dirty="0"/>
          </a:p>
        </p:txBody>
      </p:sp>
      <p:sp>
        <p:nvSpPr>
          <p:cNvPr id="29" name="Shape 14"/>
          <p:cNvSpPr/>
          <p:nvPr/>
        </p:nvSpPr>
        <p:spPr>
          <a:xfrm>
            <a:off x="22354794" y="1629832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0" name="Shape 15"/>
          <p:cNvSpPr/>
          <p:nvPr/>
        </p:nvSpPr>
        <p:spPr>
          <a:xfrm>
            <a:off x="22625757" y="1629832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1" name="Shape 16"/>
          <p:cNvSpPr/>
          <p:nvPr/>
        </p:nvSpPr>
        <p:spPr>
          <a:xfrm>
            <a:off x="22761245" y="1528232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2" name="Shape 17"/>
          <p:cNvSpPr/>
          <p:nvPr/>
        </p:nvSpPr>
        <p:spPr>
          <a:xfrm>
            <a:off x="22473338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191" y="4470400"/>
            <a:ext cx="1064393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Quantum computing is fundamentally different from classical computing because of two key principles: superposition and entanglement.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524191" y="2794000"/>
            <a:ext cx="10745543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Superposition &amp; Entanglement: The Core of Quantum Computing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1524191" y="1447800"/>
            <a:ext cx="2015319" cy="414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Medium" pitchFamily="34" charset="0"/>
                <a:ea typeface="Plus Jakarta Sans Medium" pitchFamily="34" charset="-122"/>
                <a:cs typeface="Plus Jakarta Sans Medium" pitchFamily="34" charset="-120"/>
              </a:rPr>
              <a:t>Pitch Deck</a:t>
            </a: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 2025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2354794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" name="Shape 4"/>
          <p:cNvSpPr/>
          <p:nvPr/>
        </p:nvSpPr>
        <p:spPr>
          <a:xfrm>
            <a:off x="22625762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8" name="Shape 5"/>
          <p:cNvSpPr/>
          <p:nvPr/>
        </p:nvSpPr>
        <p:spPr>
          <a:xfrm>
            <a:off x="22761245" y="1528233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9" name="Shape 6"/>
          <p:cNvSpPr/>
          <p:nvPr/>
        </p:nvSpPr>
        <p:spPr>
          <a:xfrm>
            <a:off x="22473343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11" name="Image 2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650781" y="2032000"/>
            <a:ext cx="11228203" cy="11226800"/>
          </a:xfrm>
          <a:prstGeom prst="rect">
            <a:avLst/>
          </a:prstGeom>
        </p:spPr>
      </p:pic>
      <p:pic>
        <p:nvPicPr>
          <p:cNvPr id="12" name="Image 3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666908" y="4749800"/>
            <a:ext cx="5296562" cy="52959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292711" y="7150100"/>
            <a:ext cx="2146568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Superposition</a:t>
            </a:r>
            <a:endParaRPr lang="en-US" sz="2400" dirty="0"/>
          </a:p>
        </p:txBody>
      </p:sp>
      <p:sp>
        <p:nvSpPr>
          <p:cNvPr id="14" name="Text 8"/>
          <p:cNvSpPr/>
          <p:nvPr/>
        </p:nvSpPr>
        <p:spPr>
          <a:xfrm>
            <a:off x="19611251" y="7137400"/>
            <a:ext cx="215927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Entanglement</a:t>
            </a:r>
            <a:endParaRPr lang="en-US" sz="2400" dirty="0"/>
          </a:p>
        </p:txBody>
      </p:sp>
      <p:sp>
        <p:nvSpPr>
          <p:cNvPr id="15" name="Shape 9"/>
          <p:cNvSpPr/>
          <p:nvPr/>
        </p:nvSpPr>
        <p:spPr>
          <a:xfrm>
            <a:off x="1524191" y="6426200"/>
            <a:ext cx="5575997" cy="3098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pic>
        <p:nvPicPr>
          <p:cNvPr id="16" name="Image 4" descr=" 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24191" y="6426200"/>
            <a:ext cx="5575997" cy="30988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929006" y="6807200"/>
            <a:ext cx="211110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Superposition</a:t>
            </a:r>
            <a:endParaRPr lang="en-US" sz="2400" dirty="0"/>
          </a:p>
        </p:txBody>
      </p:sp>
      <p:sp>
        <p:nvSpPr>
          <p:cNvPr id="18" name="Text 11"/>
          <p:cNvSpPr/>
          <p:nvPr/>
        </p:nvSpPr>
        <p:spPr>
          <a:xfrm>
            <a:off x="1917940" y="7315200"/>
            <a:ext cx="4864708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6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Unlike classical bits (0 or 1), qubits can be 0, 1, or both at the same time, enabling exponential computational power.</a:t>
            </a:r>
            <a:endParaRPr lang="en-US" sz="2400" dirty="0"/>
          </a:p>
        </p:txBody>
      </p:sp>
      <p:sp>
        <p:nvSpPr>
          <p:cNvPr id="19" name="Shape 12"/>
          <p:cNvSpPr/>
          <p:nvPr/>
        </p:nvSpPr>
        <p:spPr>
          <a:xfrm>
            <a:off x="7405026" y="6426200"/>
            <a:ext cx="5575997" cy="3098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pic>
        <p:nvPicPr>
          <p:cNvPr id="20" name="Image 5" descr=" 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05026" y="6426200"/>
            <a:ext cx="5575997" cy="30988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809841" y="6807200"/>
            <a:ext cx="211110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Entanglement</a:t>
            </a:r>
            <a:endParaRPr lang="en-US" sz="2400" dirty="0"/>
          </a:p>
        </p:txBody>
      </p:sp>
      <p:sp>
        <p:nvSpPr>
          <p:cNvPr id="22" name="Text 14"/>
          <p:cNvSpPr/>
          <p:nvPr/>
        </p:nvSpPr>
        <p:spPr>
          <a:xfrm>
            <a:off x="7798775" y="7315200"/>
            <a:ext cx="4864708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6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Two or more qubits become interdependent, meaning a change in one instantly affects the other, no matter the distance.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191" y="5638800"/>
            <a:ext cx="6973172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Traditional computers process data using bits (0s and 1s), while quantum computers use qubits, which leverage superposition and entanglement to perform complex calculations much faster.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524191" y="7721600"/>
            <a:ext cx="7062083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These comparison showing how quantum computing surpasses classical computing in speed, power, and efficiency.</a:t>
            </a:r>
            <a:endParaRPr lang="en-US" sz="2400" dirty="0"/>
          </a:p>
        </p:txBody>
      </p:sp>
      <p:pic>
        <p:nvPicPr>
          <p:cNvPr id="6" name="Image 1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02400" y="3962400"/>
            <a:ext cx="6503213" cy="6223000"/>
          </a:xfrm>
          <a:prstGeom prst="rect">
            <a:avLst/>
          </a:prstGeom>
        </p:spPr>
      </p:pic>
      <p:pic>
        <p:nvPicPr>
          <p:cNvPr id="7" name="Image 2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359645" y="3962400"/>
            <a:ext cx="6503213" cy="622300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524191" y="3962400"/>
            <a:ext cx="7481235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Quantum Computing vs. Classical Computing</a:t>
            </a:r>
            <a:endParaRPr lang="en-US" sz="4800" dirty="0"/>
          </a:p>
        </p:txBody>
      </p:sp>
      <p:sp>
        <p:nvSpPr>
          <p:cNvPr id="8" name="Text 3"/>
          <p:cNvSpPr/>
          <p:nvPr/>
        </p:nvSpPr>
        <p:spPr>
          <a:xfrm>
            <a:off x="11274447" y="4448572"/>
            <a:ext cx="3294994" cy="673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000" kern="0" spc="-30" dirty="0">
                <a:solidFill>
                  <a:srgbClr val="FFFFFF">
                    <a:alpha val="7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Classical Computing</a:t>
            </a:r>
            <a:endParaRPr lang="en-US" sz="3000" dirty="0"/>
          </a:p>
        </p:txBody>
      </p:sp>
      <p:sp>
        <p:nvSpPr>
          <p:cNvPr id="9" name="Text 4"/>
          <p:cNvSpPr/>
          <p:nvPr/>
        </p:nvSpPr>
        <p:spPr>
          <a:xfrm>
            <a:off x="18000743" y="4448572"/>
            <a:ext cx="3316969" cy="673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000" kern="0" spc="-30" dirty="0">
                <a:solidFill>
                  <a:srgbClr val="FFFFFF">
                    <a:alpha val="7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Quantum Computing</a:t>
            </a:r>
            <a:endParaRPr lang="en-US" sz="3000" dirty="0"/>
          </a:p>
        </p:txBody>
      </p:sp>
      <p:sp>
        <p:nvSpPr>
          <p:cNvPr id="10" name="Text 5"/>
          <p:cNvSpPr/>
          <p:nvPr/>
        </p:nvSpPr>
        <p:spPr>
          <a:xfrm>
            <a:off x="10110464" y="5397500"/>
            <a:ext cx="548708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7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Classical computers handle one operation at a time, limiting speed.</a:t>
            </a:r>
            <a:endParaRPr lang="en-US" sz="2400" dirty="0"/>
          </a:p>
        </p:txBody>
      </p:sp>
      <p:pic>
        <p:nvPicPr>
          <p:cNvPr id="11" name="Image 3" descr=" 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10464" y="6559550"/>
            <a:ext cx="5385473" cy="127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110464" y="6819900"/>
            <a:ext cx="548708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7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Slow Computational Speed.</a:t>
            </a:r>
            <a:endParaRPr lang="en-US" sz="2400" dirty="0"/>
          </a:p>
        </p:txBody>
      </p:sp>
      <p:pic>
        <p:nvPicPr>
          <p:cNvPr id="13" name="Image 4" descr=" 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10464" y="7524750"/>
            <a:ext cx="5385473" cy="127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110464" y="7785100"/>
            <a:ext cx="548708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7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Struggle with highly complex computations.</a:t>
            </a:r>
            <a:endParaRPr lang="en-US" sz="2400" dirty="0"/>
          </a:p>
        </p:txBody>
      </p:sp>
      <p:sp>
        <p:nvSpPr>
          <p:cNvPr id="15" name="Text 8"/>
          <p:cNvSpPr/>
          <p:nvPr/>
        </p:nvSpPr>
        <p:spPr>
          <a:xfrm>
            <a:off x="16867708" y="5397500"/>
            <a:ext cx="5626803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7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Quantum computers process multiple calculations, enabling parallelism.</a:t>
            </a:r>
            <a:endParaRPr lang="en-US" sz="2400" dirty="0"/>
          </a:p>
        </p:txBody>
      </p:sp>
      <p:pic>
        <p:nvPicPr>
          <p:cNvPr id="16" name="Image 5" descr=" 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867708" y="6534150"/>
            <a:ext cx="5525191" cy="127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6867708" y="6769100"/>
            <a:ext cx="5626803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7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Provide exponential speed-ups for complex problems like cryptography, simulations, and AI.</a:t>
            </a:r>
            <a:endParaRPr lang="en-US" sz="2400" dirty="0"/>
          </a:p>
        </p:txBody>
      </p:sp>
      <p:pic>
        <p:nvPicPr>
          <p:cNvPr id="18" name="Image 6" descr=" 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867708" y="8362950"/>
            <a:ext cx="5525191" cy="127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6867708" y="8597900"/>
            <a:ext cx="5626803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7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Quantum computing excels at optimization problems.</a:t>
            </a:r>
            <a:endParaRPr lang="en-US" sz="2400" dirty="0"/>
          </a:p>
        </p:txBody>
      </p:sp>
      <p:sp>
        <p:nvSpPr>
          <p:cNvPr id="21" name="Text 11"/>
          <p:cNvSpPr/>
          <p:nvPr/>
        </p:nvSpPr>
        <p:spPr>
          <a:xfrm>
            <a:off x="1524191" y="1447800"/>
            <a:ext cx="2015319" cy="414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Medium" pitchFamily="34" charset="0"/>
                <a:ea typeface="Plus Jakarta Sans Medium" pitchFamily="34" charset="-122"/>
                <a:cs typeface="Plus Jakarta Sans Medium" pitchFamily="34" charset="-120"/>
              </a:rPr>
              <a:t>Pitch Deck</a:t>
            </a: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 2025</a:t>
            </a:r>
            <a:endParaRPr lang="en-US" sz="2000" dirty="0"/>
          </a:p>
        </p:txBody>
      </p:sp>
      <p:sp>
        <p:nvSpPr>
          <p:cNvPr id="22" name="Shape 12"/>
          <p:cNvSpPr/>
          <p:nvPr/>
        </p:nvSpPr>
        <p:spPr>
          <a:xfrm>
            <a:off x="22354794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3" name="Shape 13"/>
          <p:cNvSpPr/>
          <p:nvPr/>
        </p:nvSpPr>
        <p:spPr>
          <a:xfrm>
            <a:off x="22625760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4" name="Shape 14"/>
          <p:cNvSpPr/>
          <p:nvPr/>
        </p:nvSpPr>
        <p:spPr>
          <a:xfrm>
            <a:off x="22761245" y="1528233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5" name="Shape 15"/>
          <p:cNvSpPr/>
          <p:nvPr/>
        </p:nvSpPr>
        <p:spPr>
          <a:xfrm>
            <a:off x="22473341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191" y="3810000"/>
            <a:ext cx="11545743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Different types of quantum computers utilize unique architectures to process qubits, each with distinct advantages and applications.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524191" y="2794000"/>
            <a:ext cx="13705013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Four Major Quantum Computing Architectures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1524191" y="1447800"/>
            <a:ext cx="2015319" cy="414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Medium" pitchFamily="34" charset="0"/>
                <a:ea typeface="Plus Jakarta Sans Medium" pitchFamily="34" charset="-122"/>
                <a:cs typeface="Plus Jakarta Sans Medium" pitchFamily="34" charset="-120"/>
              </a:rPr>
              <a:t>Pitch Deck</a:t>
            </a: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 2025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2354794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" name="Shape 4"/>
          <p:cNvSpPr/>
          <p:nvPr/>
        </p:nvSpPr>
        <p:spPr>
          <a:xfrm>
            <a:off x="22625763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8" name="Shape 5"/>
          <p:cNvSpPr/>
          <p:nvPr/>
        </p:nvSpPr>
        <p:spPr>
          <a:xfrm>
            <a:off x="22761245" y="1528233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9" name="Shape 6"/>
          <p:cNvSpPr/>
          <p:nvPr/>
        </p:nvSpPr>
        <p:spPr>
          <a:xfrm>
            <a:off x="22473344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0" name="Shape 7"/>
          <p:cNvSpPr/>
          <p:nvPr/>
        </p:nvSpPr>
        <p:spPr>
          <a:xfrm>
            <a:off x="14429003" y="4114800"/>
            <a:ext cx="8433854" cy="8432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pic>
        <p:nvPicPr>
          <p:cNvPr id="11" name="Image 1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429003" y="4114800"/>
            <a:ext cx="8433854" cy="8432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204800" y="4419600"/>
            <a:ext cx="345483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Superconducting Qubits</a:t>
            </a:r>
            <a:endParaRPr lang="en-US" sz="2400" dirty="0"/>
          </a:p>
        </p:txBody>
      </p:sp>
      <p:pic>
        <p:nvPicPr>
          <p:cNvPr id="13" name="Image 2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546743" y="5232400"/>
            <a:ext cx="7316114" cy="7315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9903388" y="5537200"/>
            <a:ext cx="275624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Trapped Ion Qubits</a:t>
            </a:r>
            <a:endParaRPr lang="en-US" sz="2400" dirty="0"/>
          </a:p>
        </p:txBody>
      </p:sp>
      <p:pic>
        <p:nvPicPr>
          <p:cNvPr id="15" name="Image 3" descr=" 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575572" y="6261100"/>
            <a:ext cx="6287286" cy="6286500"/>
          </a:xfrm>
          <a:prstGeom prst="rect">
            <a:avLst/>
          </a:prstGeom>
        </p:spPr>
      </p:pic>
      <p:pic>
        <p:nvPicPr>
          <p:cNvPr id="16" name="Image 4" descr=" 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7617102" y="7302500"/>
            <a:ext cx="5245756" cy="52451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0347943" y="6565900"/>
            <a:ext cx="231168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Photonic Qubits</a:t>
            </a:r>
            <a:endParaRPr lang="en-US" sz="2400" dirty="0"/>
          </a:p>
        </p:txBody>
      </p:sp>
      <p:sp>
        <p:nvSpPr>
          <p:cNvPr id="18" name="Text 11"/>
          <p:cNvSpPr/>
          <p:nvPr/>
        </p:nvSpPr>
        <p:spPr>
          <a:xfrm>
            <a:off x="19979597" y="7607300"/>
            <a:ext cx="268003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Topological Qubits</a:t>
            </a:r>
            <a:endParaRPr lang="en-US" sz="2400" dirty="0"/>
          </a:p>
        </p:txBody>
      </p:sp>
      <p:sp>
        <p:nvSpPr>
          <p:cNvPr id="19" name="Shape 12"/>
          <p:cNvSpPr/>
          <p:nvPr/>
        </p:nvSpPr>
        <p:spPr>
          <a:xfrm>
            <a:off x="1511489" y="5461000"/>
            <a:ext cx="11456832" cy="1524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pic>
        <p:nvPicPr>
          <p:cNvPr id="20" name="Image 5" descr=" 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11489" y="5461000"/>
            <a:ext cx="11456832" cy="15240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2121165" y="5765800"/>
            <a:ext cx="10262883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Superconducting Qubits - </a:t>
            </a: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Use cryogenically cooled circuits for high-speed processing (IBM, Google).</a:t>
            </a:r>
            <a:endParaRPr lang="en-US" sz="2400" dirty="0"/>
          </a:p>
        </p:txBody>
      </p:sp>
      <p:sp>
        <p:nvSpPr>
          <p:cNvPr id="22" name="Shape 14"/>
          <p:cNvSpPr/>
          <p:nvPr/>
        </p:nvSpPr>
        <p:spPr>
          <a:xfrm>
            <a:off x="1511489" y="7315200"/>
            <a:ext cx="11456832" cy="1524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pic>
        <p:nvPicPr>
          <p:cNvPr id="23" name="Image 6" descr=" 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511489" y="7315200"/>
            <a:ext cx="11456832" cy="15240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2121165" y="7620000"/>
            <a:ext cx="10262883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Trapped Ion Qubits - </a:t>
            </a: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Manipulate ions with lasers for high coherence times (IonQ, Honeywell).</a:t>
            </a:r>
            <a:endParaRPr lang="en-US" sz="2400" dirty="0"/>
          </a:p>
        </p:txBody>
      </p:sp>
      <p:sp>
        <p:nvSpPr>
          <p:cNvPr id="25" name="Shape 16"/>
          <p:cNvSpPr/>
          <p:nvPr/>
        </p:nvSpPr>
        <p:spPr>
          <a:xfrm>
            <a:off x="1511489" y="9169400"/>
            <a:ext cx="11456832" cy="1524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pic>
        <p:nvPicPr>
          <p:cNvPr id="26" name="Image 7" descr=" 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511489" y="9169400"/>
            <a:ext cx="11456832" cy="152400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2121165" y="9474200"/>
            <a:ext cx="10262883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Photonic Qubits - </a:t>
            </a: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Use light-based qubits for scalable and low-energy computing (PsiQuantum).</a:t>
            </a:r>
            <a:endParaRPr lang="en-US" sz="2400" dirty="0"/>
          </a:p>
        </p:txBody>
      </p:sp>
      <p:sp>
        <p:nvSpPr>
          <p:cNvPr id="28" name="Shape 18"/>
          <p:cNvSpPr/>
          <p:nvPr/>
        </p:nvSpPr>
        <p:spPr>
          <a:xfrm>
            <a:off x="1511489" y="11023600"/>
            <a:ext cx="11456832" cy="1524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pic>
        <p:nvPicPr>
          <p:cNvPr id="29" name="Image 8" descr=" 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511489" y="11023600"/>
            <a:ext cx="11456832" cy="152400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2121165" y="11328400"/>
            <a:ext cx="10262883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Topological Qubits - </a:t>
            </a: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Error-resistant qubits based on exotic quantum states (Microsoft).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191" y="4356100"/>
            <a:ext cx="9907238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Despite its potential, quantum computing faces significant hardware limitations that must be overcome for practical applications.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524191" y="2679700"/>
            <a:ext cx="10745543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Hardware Challenges in Quantum Computing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524191" y="5981700"/>
            <a:ext cx="2095762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Decoherence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524191" y="6502400"/>
            <a:ext cx="924675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7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Qubits lose information quickly due to environmental interference.</a:t>
            </a:r>
            <a:endParaRPr lang="en-US" sz="2400" dirty="0"/>
          </a:p>
        </p:txBody>
      </p:sp>
      <p:pic>
        <p:nvPicPr>
          <p:cNvPr id="6" name="Image 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4191" y="7207250"/>
            <a:ext cx="8675184" cy="12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4191" y="7518400"/>
            <a:ext cx="2235479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Qubit Stability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524191" y="8039100"/>
            <a:ext cx="924675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7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Maintaining quantum states requires extreme precision.</a:t>
            </a:r>
            <a:endParaRPr lang="en-US" sz="2400" dirty="0"/>
          </a:p>
        </p:txBody>
      </p:sp>
      <p:pic>
        <p:nvPicPr>
          <p:cNvPr id="9" name="Image 1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4191" y="8743950"/>
            <a:ext cx="8675184" cy="127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24191" y="9055100"/>
            <a:ext cx="2527616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 Error Rates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524191" y="9575800"/>
            <a:ext cx="924675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7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Quantum gates introduce computational errors over time.</a:t>
            </a:r>
            <a:endParaRPr lang="en-US" sz="2400" dirty="0"/>
          </a:p>
        </p:txBody>
      </p:sp>
      <p:pic>
        <p:nvPicPr>
          <p:cNvPr id="12" name="Image 2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4191" y="10280650"/>
            <a:ext cx="8675184" cy="127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24191" y="10591800"/>
            <a:ext cx="1663908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Scalability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1524191" y="11112500"/>
            <a:ext cx="924675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7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Expanding quantum processors without increasing noise is difficult.</a:t>
            </a:r>
            <a:endParaRPr lang="en-US" sz="2400" dirty="0"/>
          </a:p>
        </p:txBody>
      </p:sp>
      <p:sp>
        <p:nvSpPr>
          <p:cNvPr id="16" name="Text 10"/>
          <p:cNvSpPr/>
          <p:nvPr/>
        </p:nvSpPr>
        <p:spPr>
          <a:xfrm>
            <a:off x="1524191" y="1447800"/>
            <a:ext cx="2015319" cy="414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Medium" pitchFamily="34" charset="0"/>
                <a:ea typeface="Plus Jakarta Sans Medium" pitchFamily="34" charset="-122"/>
                <a:cs typeface="Plus Jakarta Sans Medium" pitchFamily="34" charset="-120"/>
              </a:rPr>
              <a:t>Pitch Deck</a:t>
            </a: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 2025</a:t>
            </a:r>
            <a:endParaRPr lang="en-US" sz="2000" dirty="0"/>
          </a:p>
        </p:txBody>
      </p:sp>
      <p:sp>
        <p:nvSpPr>
          <p:cNvPr id="17" name="Shape 11"/>
          <p:cNvSpPr/>
          <p:nvPr/>
        </p:nvSpPr>
        <p:spPr>
          <a:xfrm>
            <a:off x="22354794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8" name="Shape 12"/>
          <p:cNvSpPr/>
          <p:nvPr/>
        </p:nvSpPr>
        <p:spPr>
          <a:xfrm>
            <a:off x="22625763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9" name="Shape 13"/>
          <p:cNvSpPr/>
          <p:nvPr/>
        </p:nvSpPr>
        <p:spPr>
          <a:xfrm>
            <a:off x="22761245" y="1528233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0" name="Shape 14"/>
          <p:cNvSpPr/>
          <p:nvPr/>
        </p:nvSpPr>
        <p:spPr>
          <a:xfrm>
            <a:off x="22473344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1" name="Shape 15"/>
          <p:cNvSpPr/>
          <p:nvPr/>
        </p:nvSpPr>
        <p:spPr>
          <a:xfrm>
            <a:off x="12282435" y="2679700"/>
            <a:ext cx="10580422" cy="8509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pic>
        <p:nvPicPr>
          <p:cNvPr id="22" name="Image 4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263383" y="6915150"/>
            <a:ext cx="10091411" cy="38100"/>
          </a:xfrm>
          <a:prstGeom prst="rect">
            <a:avLst/>
          </a:prstGeom>
        </p:spPr>
      </p:pic>
      <p:pic>
        <p:nvPicPr>
          <p:cNvPr id="23" name="Image 5" descr=" 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76184" y="2679700"/>
            <a:ext cx="4534467" cy="8509000"/>
          </a:xfrm>
          <a:prstGeom prst="rect">
            <a:avLst/>
          </a:prstGeom>
        </p:spPr>
      </p:pic>
      <p:pic>
        <p:nvPicPr>
          <p:cNvPr id="24" name="Image 6" descr=" 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993724" y="2679700"/>
            <a:ext cx="4534467" cy="8509000"/>
          </a:xfrm>
          <a:prstGeom prst="rect">
            <a:avLst/>
          </a:prstGeom>
        </p:spPr>
      </p:pic>
      <p:pic>
        <p:nvPicPr>
          <p:cNvPr id="25" name="Image 7" descr=" 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886261" y="3136900"/>
            <a:ext cx="4051806" cy="7594600"/>
          </a:xfrm>
          <a:prstGeom prst="rect">
            <a:avLst/>
          </a:prstGeom>
        </p:spPr>
      </p:pic>
      <p:pic>
        <p:nvPicPr>
          <p:cNvPr id="26" name="Image 8" descr=" 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5165695" y="3136900"/>
            <a:ext cx="4051806" cy="7594600"/>
          </a:xfrm>
          <a:prstGeom prst="rect">
            <a:avLst/>
          </a:prstGeom>
        </p:spPr>
      </p:pic>
      <p:pic>
        <p:nvPicPr>
          <p:cNvPr id="27" name="Image 9" descr=" 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7718715" y="4000500"/>
            <a:ext cx="3124591" cy="5867400"/>
          </a:xfrm>
          <a:prstGeom prst="rect">
            <a:avLst/>
          </a:prstGeom>
        </p:spPr>
      </p:pic>
      <p:pic>
        <p:nvPicPr>
          <p:cNvPr id="28" name="Image 10" descr=" 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7998149" y="4000500"/>
            <a:ext cx="3124591" cy="5867400"/>
          </a:xfrm>
          <a:prstGeom prst="rect">
            <a:avLst/>
          </a:prstGeom>
        </p:spPr>
      </p:pic>
      <p:pic>
        <p:nvPicPr>
          <p:cNvPr id="29" name="Image 11" descr=" 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0068508" y="4495800"/>
            <a:ext cx="2591124" cy="4876800"/>
          </a:xfrm>
          <a:prstGeom prst="rect">
            <a:avLst/>
          </a:prstGeom>
        </p:spPr>
      </p:pic>
      <p:pic>
        <p:nvPicPr>
          <p:cNvPr id="30" name="Image 12" descr=" 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0271734" y="4495800"/>
            <a:ext cx="2591124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32441" y="6718300"/>
            <a:ext cx="6376197" cy="375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Google’s 2019 Breakthrough:</a:t>
            </a:r>
            <a:endParaRPr lang="en-US" sz="2400" dirty="0"/>
          </a:p>
          <a:p>
            <a:pPr marL="685800" lvl="1" indent="-342900" algn="l">
              <a:lnSpc>
                <a:spcPts val="3600"/>
              </a:lnSpc>
              <a:buSzPct val="100000"/>
              <a:buChar char="•"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The 53-qubit Sycamore processor solved a complex problem in 200 seconds that would take the best supercomputer 10,000 years.</a:t>
            </a:r>
            <a:endParaRPr lang="en-US" sz="2400" dirty="0"/>
          </a:p>
          <a:p>
            <a:pPr marL="685800" lvl="1" indent="-342900" algn="l">
              <a:lnSpc>
                <a:spcPts val="3600"/>
              </a:lnSpc>
              <a:buSzPct val="100000"/>
              <a:buChar char="•"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This milestone proved quantum computing's exponential advantage over classical systems.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524191" y="6718300"/>
            <a:ext cx="5499787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Quantum supremacy refers to the moment when a quantum computer performs a task beyond the capability of classical supercomputers.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24191" y="9169400"/>
            <a:ext cx="264193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0"/>
              </a:lnSpc>
              <a:buNone/>
            </a:pPr>
            <a:r>
              <a:rPr lang="en-US" sz="9600" kern="0" spc="-288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200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3759670" y="9842500"/>
            <a:ext cx="128286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seconds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24191" y="8712200"/>
            <a:ext cx="351834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Solved complex problem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24191" y="3048000"/>
            <a:ext cx="15606017" cy="1634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0"/>
              </a:lnSpc>
              <a:buNone/>
            </a:pPr>
            <a:r>
              <a:rPr lang="en-US" sz="8600" kern="0" spc="-258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 What is Quantum Supremacy?</a:t>
            </a:r>
            <a:endParaRPr lang="en-US" sz="8600" dirty="0"/>
          </a:p>
        </p:txBody>
      </p:sp>
      <p:sp>
        <p:nvSpPr>
          <p:cNvPr id="8" name="Text 6"/>
          <p:cNvSpPr/>
          <p:nvPr/>
        </p:nvSpPr>
        <p:spPr>
          <a:xfrm>
            <a:off x="21376772" y="9461500"/>
            <a:ext cx="1587698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Sycamore processor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7744118" y="6718300"/>
            <a:ext cx="1867133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0"/>
              </a:lnSpc>
              <a:buNone/>
            </a:pPr>
            <a:r>
              <a:rPr lang="en-US" sz="9600" kern="0" spc="-288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53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17849964" y="7734300"/>
            <a:ext cx="1354836" cy="465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en-US" sz="2000" kern="0" spc="-2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qubit</a:t>
            </a:r>
            <a:endParaRPr lang="en-US" sz="2000" dirty="0"/>
          </a:p>
        </p:txBody>
      </p:sp>
      <p:pic>
        <p:nvPicPr>
          <p:cNvPr id="11" name="Image 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737767" y="6889748"/>
            <a:ext cx="5131441" cy="3378203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9295125" y="9288163"/>
            <a:ext cx="149611" cy="149593"/>
          </a:xfrm>
          <a:prstGeom prst="ellipse">
            <a:avLst/>
          </a:prstGeom>
          <a:solidFill>
            <a:srgbClr val="09A1EE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3" name="Shape 10"/>
          <p:cNvSpPr/>
          <p:nvPr/>
        </p:nvSpPr>
        <p:spPr>
          <a:xfrm>
            <a:off x="20984437" y="7526120"/>
            <a:ext cx="149611" cy="149593"/>
          </a:xfrm>
          <a:prstGeom prst="ellipse">
            <a:avLst/>
          </a:prstGeom>
          <a:solidFill>
            <a:srgbClr val="09A1EE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5" name="Text 11"/>
          <p:cNvSpPr/>
          <p:nvPr/>
        </p:nvSpPr>
        <p:spPr>
          <a:xfrm>
            <a:off x="1524191" y="1447800"/>
            <a:ext cx="2015319" cy="414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Medium" pitchFamily="34" charset="0"/>
                <a:ea typeface="Plus Jakarta Sans Medium" pitchFamily="34" charset="-122"/>
                <a:cs typeface="Plus Jakarta Sans Medium" pitchFamily="34" charset="-120"/>
              </a:rPr>
              <a:t>Pitch Deck</a:t>
            </a: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 2025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22354794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7" name="Shape 13"/>
          <p:cNvSpPr/>
          <p:nvPr/>
        </p:nvSpPr>
        <p:spPr>
          <a:xfrm>
            <a:off x="22625757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8" name="Shape 14"/>
          <p:cNvSpPr/>
          <p:nvPr/>
        </p:nvSpPr>
        <p:spPr>
          <a:xfrm>
            <a:off x="22761245" y="1528233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9" name="Shape 15"/>
          <p:cNvSpPr/>
          <p:nvPr/>
        </p:nvSpPr>
        <p:spPr>
          <a:xfrm>
            <a:off x="22473338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191" y="5689600"/>
            <a:ext cx="7951194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Quantum computing enables powerful algorithms that surpass classical methods in solving complex problems.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6029403" y="2997200"/>
            <a:ext cx="6935067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Shor’s and Grover’s algorithms highlight quantum computing’s vast potential in cryptography, AI, and beyond.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24191" y="2794000"/>
            <a:ext cx="10881027" cy="2904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0"/>
              </a:lnSpc>
              <a:buNone/>
            </a:pPr>
            <a:r>
              <a:rPr lang="en-US" sz="8600" kern="0" spc="-258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Quantum Algorithms Shor’s &amp; Grover’s</a:t>
            </a:r>
            <a:endParaRPr lang="en-US" sz="8600" dirty="0"/>
          </a:p>
        </p:txBody>
      </p:sp>
      <p:pic>
        <p:nvPicPr>
          <p:cNvPr id="5" name="Image 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11489" y="8216900"/>
            <a:ext cx="9272159" cy="3378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46568" y="9347200"/>
            <a:ext cx="8103613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Shor’s Algorithm threatens encryption, while Grover’s speeds up AI and data. Both showcase quantum computing’s exponential power.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2146568" y="8851900"/>
            <a:ext cx="584273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Are These Algorithms Important?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1524191" y="1447800"/>
            <a:ext cx="2015319" cy="414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Medium" pitchFamily="34" charset="0"/>
                <a:ea typeface="Plus Jakarta Sans Medium" pitchFamily="34" charset="-122"/>
                <a:cs typeface="Plus Jakarta Sans Medium" pitchFamily="34" charset="-120"/>
              </a:rPr>
              <a:t>Pitch Deck</a:t>
            </a: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 2025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22354794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1" name="Shape 7"/>
          <p:cNvSpPr/>
          <p:nvPr/>
        </p:nvSpPr>
        <p:spPr>
          <a:xfrm>
            <a:off x="22625757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2" name="Shape 8"/>
          <p:cNvSpPr/>
          <p:nvPr/>
        </p:nvSpPr>
        <p:spPr>
          <a:xfrm>
            <a:off x="22761245" y="1528233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3" name="Shape 9"/>
          <p:cNvSpPr/>
          <p:nvPr/>
        </p:nvSpPr>
        <p:spPr>
          <a:xfrm>
            <a:off x="22473338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4" name="Shape 10"/>
          <p:cNvSpPr/>
          <p:nvPr/>
        </p:nvSpPr>
        <p:spPr>
          <a:xfrm>
            <a:off x="11113889" y="6489700"/>
            <a:ext cx="5703013" cy="5143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pic>
        <p:nvPicPr>
          <p:cNvPr id="15" name="Image 2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13889" y="6489700"/>
            <a:ext cx="5703013" cy="51435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748968" y="7124700"/>
            <a:ext cx="4724991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000" kern="0" spc="-3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Shor’s Algorithm (1994)</a:t>
            </a:r>
            <a:endParaRPr lang="en-US" sz="3000" dirty="0"/>
          </a:p>
        </p:txBody>
      </p:sp>
      <p:sp>
        <p:nvSpPr>
          <p:cNvPr id="17" name="Text 12"/>
          <p:cNvSpPr/>
          <p:nvPr/>
        </p:nvSpPr>
        <p:spPr>
          <a:xfrm>
            <a:off x="11748968" y="7797800"/>
            <a:ext cx="4534467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lvl="1" indent="-342900" algn="l">
              <a:lnSpc>
                <a:spcPts val="3600"/>
              </a:lnSpc>
              <a:buSzPct val="100000"/>
              <a:buChar char="•"/>
            </a:pPr>
            <a:r>
              <a:rPr lang="en-US" sz="2400" kern="0" spc="-48" dirty="0">
                <a:solidFill>
                  <a:srgbClr val="FFFFFF">
                    <a:alpha val="6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Breaks RSA encryption by factoring large numbers exponentially faster than classical computers.</a:t>
            </a:r>
            <a:endParaRPr lang="en-US" sz="2400" dirty="0"/>
          </a:p>
          <a:p>
            <a:pPr marL="685800" lvl="1" indent="-342900" algn="l">
              <a:lnSpc>
                <a:spcPts val="3600"/>
              </a:lnSpc>
              <a:buSzPct val="100000"/>
              <a:buChar char="•"/>
            </a:pPr>
            <a:r>
              <a:rPr lang="en-US" sz="2400" kern="0" spc="-48" dirty="0">
                <a:solidFill>
                  <a:srgbClr val="FFFFFF">
                    <a:alpha val="6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Could render current cryptographic systems obsolete</a:t>
            </a:r>
            <a:endParaRPr lang="en-US" sz="2400" dirty="0"/>
          </a:p>
        </p:txBody>
      </p:sp>
      <p:sp>
        <p:nvSpPr>
          <p:cNvPr id="18" name="Shape 13"/>
          <p:cNvSpPr/>
          <p:nvPr/>
        </p:nvSpPr>
        <p:spPr>
          <a:xfrm>
            <a:off x="17147143" y="6489700"/>
            <a:ext cx="5703013" cy="51435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pic>
        <p:nvPicPr>
          <p:cNvPr id="19" name="Image 3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147143" y="6489700"/>
            <a:ext cx="5703013" cy="51435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7782222" y="7124700"/>
            <a:ext cx="4724991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000" kern="0" spc="-3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Grover’s Algorithm (1996)</a:t>
            </a:r>
            <a:endParaRPr lang="en-US" sz="3000" dirty="0"/>
          </a:p>
        </p:txBody>
      </p:sp>
      <p:sp>
        <p:nvSpPr>
          <p:cNvPr id="21" name="Text 15"/>
          <p:cNvSpPr/>
          <p:nvPr/>
        </p:nvSpPr>
        <p:spPr>
          <a:xfrm>
            <a:off x="17782222" y="7797800"/>
            <a:ext cx="4534467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lvl="1" indent="-342900" algn="l">
              <a:lnSpc>
                <a:spcPts val="3600"/>
              </a:lnSpc>
              <a:buSzPct val="100000"/>
              <a:buChar char="•"/>
            </a:pPr>
            <a:r>
              <a:rPr lang="en-US" sz="2400" kern="0" spc="-48" dirty="0">
                <a:solidFill>
                  <a:srgbClr val="FFFFFF">
                    <a:alpha val="6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Speeds up unstructured search from O(N) to O(√N), making searches exponentially faster.</a:t>
            </a:r>
            <a:endParaRPr lang="en-US" sz="2400" dirty="0"/>
          </a:p>
          <a:p>
            <a:pPr marL="685800" lvl="1" indent="-342900" algn="l">
              <a:lnSpc>
                <a:spcPts val="3600"/>
              </a:lnSpc>
              <a:buSzPct val="100000"/>
              <a:buChar char="•"/>
            </a:pPr>
            <a:r>
              <a:rPr lang="en-US" sz="2400" kern="0" spc="-48" dirty="0">
                <a:solidFill>
                  <a:srgbClr val="FFFFFF">
                    <a:alpha val="6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Useful in database search, AI, and optimization problems.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36892" y="6858000"/>
            <a:ext cx="21338667" cy="44704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7159845" y="7315200"/>
            <a:ext cx="5144143" cy="3556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pic>
        <p:nvPicPr>
          <p:cNvPr id="5" name="Image 2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159845" y="7315200"/>
            <a:ext cx="5144143" cy="35560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7769521" y="8991600"/>
            <a:ext cx="4026403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 quantum equivalent of classical logic gates, used in computation.</a:t>
            </a:r>
            <a:endParaRPr lang="en-US" sz="2400" dirty="0"/>
          </a:p>
        </p:txBody>
      </p:sp>
      <p:sp>
        <p:nvSpPr>
          <p:cNvPr id="7" name="Text 2"/>
          <p:cNvSpPr/>
          <p:nvPr/>
        </p:nvSpPr>
        <p:spPr>
          <a:xfrm>
            <a:off x="17769521" y="7886700"/>
            <a:ext cx="1829029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Toffoli Gate</a:t>
            </a:r>
            <a:endParaRPr lang="en-US" sz="2400" dirty="0"/>
          </a:p>
        </p:txBody>
      </p:sp>
      <p:sp>
        <p:nvSpPr>
          <p:cNvPr id="8" name="Shape 3"/>
          <p:cNvSpPr/>
          <p:nvPr/>
        </p:nvSpPr>
        <p:spPr>
          <a:xfrm>
            <a:off x="12142718" y="7315200"/>
            <a:ext cx="5144143" cy="3556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pic>
        <p:nvPicPr>
          <p:cNvPr id="9" name="Image 3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142718" y="7315200"/>
            <a:ext cx="5144143" cy="35560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2752394" y="8991600"/>
            <a:ext cx="4026403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Performs entanglement, linking two qubits.</a:t>
            </a:r>
            <a:endParaRPr lang="en-US" sz="2400" dirty="0"/>
          </a:p>
        </p:txBody>
      </p:sp>
      <p:sp>
        <p:nvSpPr>
          <p:cNvPr id="11" name="Text 5"/>
          <p:cNvSpPr/>
          <p:nvPr/>
        </p:nvSpPr>
        <p:spPr>
          <a:xfrm>
            <a:off x="12752394" y="7886700"/>
            <a:ext cx="1829029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Controlled-NOT Gate</a:t>
            </a:r>
            <a:endParaRPr lang="en-US" sz="2400" dirty="0"/>
          </a:p>
        </p:txBody>
      </p:sp>
      <p:sp>
        <p:nvSpPr>
          <p:cNvPr id="12" name="Text 6"/>
          <p:cNvSpPr/>
          <p:nvPr/>
        </p:nvSpPr>
        <p:spPr>
          <a:xfrm>
            <a:off x="15508638" y="7886700"/>
            <a:ext cx="1244756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80"/>
              </a:lnSpc>
              <a:buNone/>
            </a:pPr>
            <a:r>
              <a:rPr lang="en-US" sz="2400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(CNOT)</a:t>
            </a:r>
            <a:endParaRPr lang="en-US" sz="2400" dirty="0"/>
          </a:p>
        </p:txBody>
      </p:sp>
      <p:sp>
        <p:nvSpPr>
          <p:cNvPr id="13" name="Shape 7"/>
          <p:cNvSpPr/>
          <p:nvPr/>
        </p:nvSpPr>
        <p:spPr>
          <a:xfrm>
            <a:off x="7125591" y="7315200"/>
            <a:ext cx="5144143" cy="3556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pic>
        <p:nvPicPr>
          <p:cNvPr id="14" name="Image 4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25591" y="7315200"/>
            <a:ext cx="5144143" cy="35560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735267" y="8991600"/>
            <a:ext cx="4026403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Rotate qubit states on different quantum axes.</a:t>
            </a:r>
            <a:endParaRPr lang="en-US" sz="2400" dirty="0"/>
          </a:p>
        </p:txBody>
      </p:sp>
      <p:sp>
        <p:nvSpPr>
          <p:cNvPr id="16" name="Text 9"/>
          <p:cNvSpPr/>
          <p:nvPr/>
        </p:nvSpPr>
        <p:spPr>
          <a:xfrm>
            <a:off x="7735267" y="7886700"/>
            <a:ext cx="1829029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Pauli Gates</a:t>
            </a:r>
            <a:endParaRPr lang="en-US" sz="2400" dirty="0"/>
          </a:p>
        </p:txBody>
      </p:sp>
      <p:sp>
        <p:nvSpPr>
          <p:cNvPr id="17" name="Text 10"/>
          <p:cNvSpPr/>
          <p:nvPr/>
        </p:nvSpPr>
        <p:spPr>
          <a:xfrm>
            <a:off x="10593124" y="7886700"/>
            <a:ext cx="1143143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80"/>
              </a:lnSpc>
              <a:buNone/>
            </a:pPr>
            <a:r>
              <a:rPr lang="en-US" sz="2400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(X,Y,Z)</a:t>
            </a:r>
            <a:endParaRPr lang="en-US" sz="2400" dirty="0"/>
          </a:p>
        </p:txBody>
      </p:sp>
      <p:sp>
        <p:nvSpPr>
          <p:cNvPr id="18" name="Shape 11"/>
          <p:cNvSpPr/>
          <p:nvPr/>
        </p:nvSpPr>
        <p:spPr>
          <a:xfrm>
            <a:off x="2108464" y="7315200"/>
            <a:ext cx="5144143" cy="3556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pic>
        <p:nvPicPr>
          <p:cNvPr id="19" name="Image 5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08464" y="7315200"/>
            <a:ext cx="5144143" cy="35560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2718140" y="8991600"/>
            <a:ext cx="4026403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Places a qubit into superposition (0 &amp; 1 at the same time).</a:t>
            </a:r>
            <a:endParaRPr lang="en-US" sz="2400" dirty="0"/>
          </a:p>
        </p:txBody>
      </p:sp>
      <p:sp>
        <p:nvSpPr>
          <p:cNvPr id="21" name="Text 13"/>
          <p:cNvSpPr/>
          <p:nvPr/>
        </p:nvSpPr>
        <p:spPr>
          <a:xfrm>
            <a:off x="2718140" y="7886700"/>
            <a:ext cx="1829029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Toffoli Gate</a:t>
            </a:r>
            <a:endParaRPr lang="en-US" sz="2400" dirty="0"/>
          </a:p>
        </p:txBody>
      </p:sp>
      <p:sp>
        <p:nvSpPr>
          <p:cNvPr id="22" name="Text 14"/>
          <p:cNvSpPr/>
          <p:nvPr/>
        </p:nvSpPr>
        <p:spPr>
          <a:xfrm>
            <a:off x="6134867" y="7886700"/>
            <a:ext cx="584273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80"/>
              </a:lnSpc>
              <a:buNone/>
            </a:pPr>
            <a:r>
              <a:rPr lang="en-US" sz="2400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(H)</a:t>
            </a:r>
            <a:endParaRPr lang="en-US" sz="2400" dirty="0"/>
          </a:p>
        </p:txBody>
      </p:sp>
      <p:sp>
        <p:nvSpPr>
          <p:cNvPr id="23" name="Text 15"/>
          <p:cNvSpPr/>
          <p:nvPr/>
        </p:nvSpPr>
        <p:spPr>
          <a:xfrm>
            <a:off x="5525191" y="4089400"/>
            <a:ext cx="13349368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Quantum gates are the building blocks of quantum circuits, manipulating qubits to perform computations. Unlike classical logic gates (AND, OR, NOT), quantum gates operate using superposition and entanglement principles.</a:t>
            </a:r>
            <a:endParaRPr lang="en-US" sz="2400" dirty="0"/>
          </a:p>
        </p:txBody>
      </p:sp>
      <p:sp>
        <p:nvSpPr>
          <p:cNvPr id="24" name="Text 16"/>
          <p:cNvSpPr/>
          <p:nvPr/>
        </p:nvSpPr>
        <p:spPr>
          <a:xfrm>
            <a:off x="6706438" y="2794000"/>
            <a:ext cx="11190099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The Role of Quantum Gates &amp; Circuits</a:t>
            </a:r>
            <a:endParaRPr lang="en-US" sz="4800" dirty="0"/>
          </a:p>
        </p:txBody>
      </p:sp>
      <p:sp>
        <p:nvSpPr>
          <p:cNvPr id="26" name="Text 17"/>
          <p:cNvSpPr/>
          <p:nvPr/>
        </p:nvSpPr>
        <p:spPr>
          <a:xfrm>
            <a:off x="1524191" y="1447800"/>
            <a:ext cx="2015319" cy="414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Medium" pitchFamily="34" charset="0"/>
                <a:ea typeface="Plus Jakarta Sans Medium" pitchFamily="34" charset="-122"/>
                <a:cs typeface="Plus Jakarta Sans Medium" pitchFamily="34" charset="-120"/>
              </a:rPr>
              <a:t>Pitch Deck</a:t>
            </a: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 2025</a:t>
            </a:r>
            <a:endParaRPr lang="en-US" sz="2000" dirty="0"/>
          </a:p>
        </p:txBody>
      </p:sp>
      <p:sp>
        <p:nvSpPr>
          <p:cNvPr id="27" name="Shape 18"/>
          <p:cNvSpPr/>
          <p:nvPr/>
        </p:nvSpPr>
        <p:spPr>
          <a:xfrm>
            <a:off x="22354794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8" name="Shape 19"/>
          <p:cNvSpPr/>
          <p:nvPr/>
        </p:nvSpPr>
        <p:spPr>
          <a:xfrm>
            <a:off x="22625762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9" name="Shape 20"/>
          <p:cNvSpPr/>
          <p:nvPr/>
        </p:nvSpPr>
        <p:spPr>
          <a:xfrm>
            <a:off x="22761245" y="1528233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0" name="Shape 21"/>
          <p:cNvSpPr/>
          <p:nvPr/>
        </p:nvSpPr>
        <p:spPr>
          <a:xfrm>
            <a:off x="22473343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4191" y="5080000"/>
            <a:ext cx="21338667" cy="65024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133867" y="5689600"/>
            <a:ext cx="6515914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Several tech giants and research institutions are at the forefront of quantum computing, each contributing unique innovations.</a:t>
            </a:r>
            <a:endParaRPr lang="en-US" sz="2400" dirty="0"/>
          </a:p>
        </p:txBody>
      </p:sp>
      <p:sp>
        <p:nvSpPr>
          <p:cNvPr id="6" name="Text 1"/>
          <p:cNvSpPr/>
          <p:nvPr/>
        </p:nvSpPr>
        <p:spPr>
          <a:xfrm>
            <a:off x="9792924" y="9448800"/>
            <a:ext cx="2713906" cy="1608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kern="0" spc="-2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Achieved quantum supremacy with its Sycamore quantum processor (2019).</a:t>
            </a:r>
            <a:endParaRPr lang="en-US" sz="2000" dirty="0"/>
          </a:p>
        </p:txBody>
      </p:sp>
      <p:sp>
        <p:nvSpPr>
          <p:cNvPr id="7" name="Text 2"/>
          <p:cNvSpPr/>
          <p:nvPr/>
        </p:nvSpPr>
        <p:spPr>
          <a:xfrm>
            <a:off x="13184248" y="9448800"/>
            <a:ext cx="2967938" cy="1608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kern="0" spc="-2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Pioneers in superconducting qubits, cloud, and quantum computing.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16575572" y="9448800"/>
            <a:ext cx="2637696" cy="1608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kern="0" spc="-2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Developing Horse Ridge quantum chip for scalable quantum systems.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19966896" y="9448800"/>
            <a:ext cx="2472576" cy="1608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kern="0" spc="-2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Specializes in Quantum Annealing for optimization problems.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9792924" y="6832600"/>
            <a:ext cx="1409876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000" kern="0" spc="-3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Google</a:t>
            </a:r>
            <a:endParaRPr lang="en-US" sz="3000" dirty="0"/>
          </a:p>
        </p:txBody>
      </p:sp>
      <p:sp>
        <p:nvSpPr>
          <p:cNvPr id="11" name="Text 6"/>
          <p:cNvSpPr/>
          <p:nvPr/>
        </p:nvSpPr>
        <p:spPr>
          <a:xfrm>
            <a:off x="13184248" y="6832600"/>
            <a:ext cx="825603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000" kern="0" spc="-3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IBM</a:t>
            </a:r>
            <a:endParaRPr lang="en-US" sz="3000" dirty="0"/>
          </a:p>
        </p:txBody>
      </p:sp>
      <p:sp>
        <p:nvSpPr>
          <p:cNvPr id="12" name="Text 7"/>
          <p:cNvSpPr/>
          <p:nvPr/>
        </p:nvSpPr>
        <p:spPr>
          <a:xfrm>
            <a:off x="16575572" y="6832600"/>
            <a:ext cx="901813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000" kern="0" spc="-3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Intel</a:t>
            </a:r>
            <a:endParaRPr lang="en-US" sz="3000" dirty="0"/>
          </a:p>
        </p:txBody>
      </p:sp>
      <p:sp>
        <p:nvSpPr>
          <p:cNvPr id="13" name="Text 8"/>
          <p:cNvSpPr/>
          <p:nvPr/>
        </p:nvSpPr>
        <p:spPr>
          <a:xfrm>
            <a:off x="19966896" y="6832600"/>
            <a:ext cx="1549594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000" kern="0" spc="-3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D-Wave</a:t>
            </a:r>
            <a:endParaRPr lang="en-US" sz="3000" dirty="0"/>
          </a:p>
        </p:txBody>
      </p:sp>
      <p:pic>
        <p:nvPicPr>
          <p:cNvPr id="371" name="Image 360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549168" y="7035800"/>
            <a:ext cx="12702" cy="3968750"/>
          </a:xfrm>
          <a:prstGeom prst="rect">
            <a:avLst/>
          </a:prstGeom>
        </p:spPr>
      </p:pic>
      <p:pic>
        <p:nvPicPr>
          <p:cNvPr id="372" name="Image 361" descr=" 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061157" y="7035800"/>
            <a:ext cx="12702" cy="3968750"/>
          </a:xfrm>
          <a:prstGeom prst="rect">
            <a:avLst/>
          </a:prstGeom>
        </p:spPr>
      </p:pic>
      <p:pic>
        <p:nvPicPr>
          <p:cNvPr id="373" name="Image 362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573146" y="7035800"/>
            <a:ext cx="12702" cy="3968750"/>
          </a:xfrm>
          <a:prstGeom prst="rect">
            <a:avLst/>
          </a:prstGeom>
        </p:spPr>
      </p:pic>
      <p:sp>
        <p:nvSpPr>
          <p:cNvPr id="374" name="Text 9"/>
          <p:cNvSpPr/>
          <p:nvPr/>
        </p:nvSpPr>
        <p:spPr>
          <a:xfrm>
            <a:off x="1524191" y="2794000"/>
            <a:ext cx="18628995" cy="1634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0"/>
              </a:lnSpc>
              <a:buNone/>
            </a:pPr>
            <a:r>
              <a:rPr lang="en-US" sz="8600" kern="0" spc="-258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Major Players in Quantum Computing</a:t>
            </a:r>
            <a:endParaRPr lang="en-US" sz="8600" dirty="0"/>
          </a:p>
        </p:txBody>
      </p:sp>
      <p:sp>
        <p:nvSpPr>
          <p:cNvPr id="376" name="Text 10"/>
          <p:cNvSpPr/>
          <p:nvPr/>
        </p:nvSpPr>
        <p:spPr>
          <a:xfrm>
            <a:off x="1524191" y="1447800"/>
            <a:ext cx="2015319" cy="414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Medium" pitchFamily="34" charset="0"/>
                <a:ea typeface="Plus Jakarta Sans Medium" pitchFamily="34" charset="-122"/>
                <a:cs typeface="Plus Jakarta Sans Medium" pitchFamily="34" charset="-120"/>
              </a:rPr>
              <a:t>Pitch Deck</a:t>
            </a: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 2025</a:t>
            </a:r>
            <a:endParaRPr lang="en-US" sz="2000" dirty="0"/>
          </a:p>
        </p:txBody>
      </p:sp>
      <p:sp>
        <p:nvSpPr>
          <p:cNvPr id="377" name="Shape 11"/>
          <p:cNvSpPr/>
          <p:nvPr/>
        </p:nvSpPr>
        <p:spPr>
          <a:xfrm>
            <a:off x="22354794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78" name="Shape 12"/>
          <p:cNvSpPr/>
          <p:nvPr/>
        </p:nvSpPr>
        <p:spPr>
          <a:xfrm>
            <a:off x="22625760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79" name="Shape 13"/>
          <p:cNvSpPr/>
          <p:nvPr/>
        </p:nvSpPr>
        <p:spPr>
          <a:xfrm>
            <a:off x="22761245" y="1528233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80" name="Shape 14"/>
          <p:cNvSpPr/>
          <p:nvPr/>
        </p:nvSpPr>
        <p:spPr>
          <a:xfrm>
            <a:off x="22473341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382" name="Graphic 381">
            <a:extLst>
              <a:ext uri="{FF2B5EF4-FFF2-40B4-BE49-F238E27FC236}">
                <a16:creationId xmlns:a16="http://schemas.microsoft.com/office/drawing/2014/main" id="{DA1B8AC9-B005-4264-BFB6-5F900FECAC7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33867" y="7975601"/>
            <a:ext cx="6247304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33241" y="7912100"/>
            <a:ext cx="10529616" cy="1524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pic>
        <p:nvPicPr>
          <p:cNvPr id="3" name="Image 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33241" y="7912100"/>
            <a:ext cx="10529616" cy="1524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93575" y="8216900"/>
            <a:ext cx="9440518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Lattice-Based Encryption - </a:t>
            </a: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Uses complex mathematical structures resistant to quantum decryption.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12333241" y="9690100"/>
            <a:ext cx="10529616" cy="1524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pic>
        <p:nvPicPr>
          <p:cNvPr id="6" name="Image 1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333241" y="9690100"/>
            <a:ext cx="10529616" cy="1524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93575" y="9994900"/>
            <a:ext cx="9440518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Quantum Key Distribution (QKD)</a:t>
            </a: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- </a:t>
            </a: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Uses quantum mechanics to ensure secure communication.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1524191" y="4622800"/>
            <a:ext cx="9589699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Quantum computing poses a serious risk to modern encryption methods, as it can break cryptographic algorithms that protect sensitive data today.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1524191" y="3048000"/>
            <a:ext cx="1698202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Quantum Computing’s Threat to Traditional Cryptography</a:t>
            </a:r>
            <a:endParaRPr lang="en-US" sz="4800" dirty="0"/>
          </a:p>
        </p:txBody>
      </p:sp>
      <p:sp>
        <p:nvSpPr>
          <p:cNvPr id="10" name="Text 6"/>
          <p:cNvSpPr/>
          <p:nvPr/>
        </p:nvSpPr>
        <p:spPr>
          <a:xfrm>
            <a:off x="1498787" y="6565900"/>
            <a:ext cx="8764095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7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Shor’s Algorithm can break RSA and ECC encryption exponentially faster.</a:t>
            </a:r>
            <a:endParaRPr lang="en-US" sz="2400" dirty="0"/>
          </a:p>
        </p:txBody>
      </p:sp>
      <p:pic>
        <p:nvPicPr>
          <p:cNvPr id="11" name="Image 2" descr=" 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98787" y="7727950"/>
            <a:ext cx="8675184" cy="127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98787" y="8102600"/>
            <a:ext cx="924675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7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Public-key cryptography (used in banking, communication, and data security) will become obsolete.</a:t>
            </a:r>
            <a:endParaRPr lang="en-US" sz="2400" dirty="0"/>
          </a:p>
        </p:txBody>
      </p:sp>
      <p:sp>
        <p:nvSpPr>
          <p:cNvPr id="13" name="Text 8"/>
          <p:cNvSpPr/>
          <p:nvPr/>
        </p:nvSpPr>
        <p:spPr>
          <a:xfrm>
            <a:off x="12333241" y="4622800"/>
            <a:ext cx="10631229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To counteract quantum threats, researchers are developing new cryptographic techniques:</a:t>
            </a:r>
            <a:endParaRPr lang="en-US" sz="2400" dirty="0"/>
          </a:p>
        </p:txBody>
      </p:sp>
      <p:sp>
        <p:nvSpPr>
          <p:cNvPr id="15" name="Text 9"/>
          <p:cNvSpPr/>
          <p:nvPr/>
        </p:nvSpPr>
        <p:spPr>
          <a:xfrm>
            <a:off x="1524191" y="1447800"/>
            <a:ext cx="2015319" cy="414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Medium" pitchFamily="34" charset="0"/>
                <a:ea typeface="Plus Jakarta Sans Medium" pitchFamily="34" charset="-122"/>
                <a:cs typeface="Plus Jakarta Sans Medium" pitchFamily="34" charset="-120"/>
              </a:rPr>
              <a:t>Pitch Deck</a:t>
            </a: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 2025</a:t>
            </a:r>
            <a:endParaRPr lang="en-US" sz="2000" dirty="0"/>
          </a:p>
        </p:txBody>
      </p:sp>
      <p:sp>
        <p:nvSpPr>
          <p:cNvPr id="16" name="Shape 10"/>
          <p:cNvSpPr/>
          <p:nvPr/>
        </p:nvSpPr>
        <p:spPr>
          <a:xfrm>
            <a:off x="22354794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7" name="Shape 11"/>
          <p:cNvSpPr/>
          <p:nvPr/>
        </p:nvSpPr>
        <p:spPr>
          <a:xfrm>
            <a:off x="22625763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8" name="Shape 12"/>
          <p:cNvSpPr/>
          <p:nvPr/>
        </p:nvSpPr>
        <p:spPr>
          <a:xfrm>
            <a:off x="22761245" y="1528233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9" name="Shape 13"/>
          <p:cNvSpPr/>
          <p:nvPr/>
        </p:nvSpPr>
        <p:spPr>
          <a:xfrm>
            <a:off x="22473344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0" name="Shape 14"/>
          <p:cNvSpPr/>
          <p:nvPr/>
        </p:nvSpPr>
        <p:spPr>
          <a:xfrm>
            <a:off x="12333241" y="6134100"/>
            <a:ext cx="10529616" cy="1524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pic>
        <p:nvPicPr>
          <p:cNvPr id="21" name="Image 4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333241" y="6134100"/>
            <a:ext cx="10529616" cy="15240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893575" y="6438900"/>
            <a:ext cx="9440518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Post-Quantum Cryptography (PQC) - </a:t>
            </a: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Classical algorithms designed to withstand quantum attacks.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191" y="4724400"/>
            <a:ext cx="8738692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Quantum computing revolutionizes Artificial Intelligence (AI) and Machine Learning (ML) by providing exponential speed and efficiency in processing complex data.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524191" y="3048000"/>
            <a:ext cx="12257032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How Quantum Computing Enhances AI &amp; Machine Learning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524191" y="6997700"/>
            <a:ext cx="5220352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Quantum Neural Networks (QNNs)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524191" y="7518400"/>
            <a:ext cx="924675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7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Process data more efficiently than classical AI.</a:t>
            </a:r>
            <a:endParaRPr lang="en-US" sz="2400" dirty="0"/>
          </a:p>
        </p:txBody>
      </p:sp>
      <p:pic>
        <p:nvPicPr>
          <p:cNvPr id="6" name="Image 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4191" y="8223250"/>
            <a:ext cx="8675184" cy="12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4191" y="8534400"/>
            <a:ext cx="2730841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Faster AI Training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524191" y="9055100"/>
            <a:ext cx="924675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7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Quantum computing speeds up AI model optimization.</a:t>
            </a:r>
            <a:endParaRPr lang="en-US" sz="2400" dirty="0"/>
          </a:p>
        </p:txBody>
      </p:sp>
      <p:pic>
        <p:nvPicPr>
          <p:cNvPr id="9" name="Image 1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4191" y="9759950"/>
            <a:ext cx="8675184" cy="127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24191" y="10071100"/>
            <a:ext cx="4166121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Quantum Feature Selection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524191" y="10591800"/>
            <a:ext cx="924675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7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Helps identify the most relevant data for machine learning.</a:t>
            </a:r>
            <a:endParaRPr lang="en-US" sz="2400" dirty="0"/>
          </a:p>
        </p:txBody>
      </p:sp>
      <p:pic>
        <p:nvPicPr>
          <p:cNvPr id="12" name="Image 2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463683" y="3403600"/>
            <a:ext cx="9399175" cy="8432800"/>
          </a:xfrm>
          <a:prstGeom prst="rect">
            <a:avLst/>
          </a:prstGeom>
        </p:spPr>
      </p:pic>
      <p:pic>
        <p:nvPicPr>
          <p:cNvPr id="13" name="Image 3" descr=" 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073359" y="6540500"/>
            <a:ext cx="8440205" cy="12700"/>
          </a:xfrm>
          <a:prstGeom prst="rect">
            <a:avLst/>
          </a:prstGeom>
        </p:spPr>
      </p:pic>
      <p:pic>
        <p:nvPicPr>
          <p:cNvPr id="14" name="Image 4" descr=" 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073359" y="8223250"/>
            <a:ext cx="8440205" cy="12700"/>
          </a:xfrm>
          <a:prstGeom prst="rect">
            <a:avLst/>
          </a:prstGeom>
        </p:spPr>
      </p:pic>
      <p:pic>
        <p:nvPicPr>
          <p:cNvPr id="15" name="Image 5" descr=" 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073359" y="9906000"/>
            <a:ext cx="8440205" cy="12700"/>
          </a:xfrm>
          <a:prstGeom prst="rect">
            <a:avLst/>
          </a:prstGeom>
        </p:spPr>
      </p:pic>
      <p:pic>
        <p:nvPicPr>
          <p:cNvPr id="16" name="Image 6" descr=" 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514489" y="5156200"/>
            <a:ext cx="2895962" cy="2895600"/>
          </a:xfrm>
          <a:prstGeom prst="rect">
            <a:avLst/>
          </a:prstGeom>
        </p:spPr>
      </p:pic>
      <p:pic>
        <p:nvPicPr>
          <p:cNvPr id="17" name="Image 7" descr=" 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514489" y="6858000"/>
            <a:ext cx="2895962" cy="2895600"/>
          </a:xfrm>
          <a:prstGeom prst="rect">
            <a:avLst/>
          </a:prstGeom>
        </p:spPr>
      </p:pic>
      <p:pic>
        <p:nvPicPr>
          <p:cNvPr id="18" name="Image 8" descr=" 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8620527" y="6858000"/>
            <a:ext cx="2895962" cy="2895600"/>
          </a:xfrm>
          <a:prstGeom prst="rect">
            <a:avLst/>
          </a:prstGeom>
        </p:spPr>
      </p:pic>
      <p:pic>
        <p:nvPicPr>
          <p:cNvPr id="19" name="Image 9" descr=" 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0322540" y="5156200"/>
            <a:ext cx="2895962" cy="2895600"/>
          </a:xfrm>
          <a:prstGeom prst="rect">
            <a:avLst/>
          </a:prstGeom>
        </p:spPr>
      </p:pic>
      <p:pic>
        <p:nvPicPr>
          <p:cNvPr id="20" name="Image 10" descr=" 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5216502" y="5156200"/>
            <a:ext cx="2895962" cy="4597400"/>
          </a:xfrm>
          <a:prstGeom prst="rect">
            <a:avLst/>
          </a:prstGeom>
        </p:spPr>
      </p:pic>
      <p:pic>
        <p:nvPicPr>
          <p:cNvPr id="21" name="Image 11" descr=" 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6918515" y="6858000"/>
            <a:ext cx="2895962" cy="4597400"/>
          </a:xfrm>
          <a:prstGeom prst="rect">
            <a:avLst/>
          </a:prstGeom>
        </p:spPr>
      </p:pic>
      <p:pic>
        <p:nvPicPr>
          <p:cNvPr id="22" name="Image 12" descr=" 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3514489" y="8559800"/>
            <a:ext cx="2895962" cy="2895600"/>
          </a:xfrm>
          <a:prstGeom prst="rect">
            <a:avLst/>
          </a:prstGeom>
        </p:spPr>
      </p:pic>
      <p:sp>
        <p:nvSpPr>
          <p:cNvPr id="24" name="Text 8"/>
          <p:cNvSpPr/>
          <p:nvPr/>
        </p:nvSpPr>
        <p:spPr>
          <a:xfrm>
            <a:off x="1524191" y="1447800"/>
            <a:ext cx="2015319" cy="414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Medium" pitchFamily="34" charset="0"/>
                <a:ea typeface="Plus Jakarta Sans Medium" pitchFamily="34" charset="-122"/>
                <a:cs typeface="Plus Jakarta Sans Medium" pitchFamily="34" charset="-120"/>
              </a:rPr>
              <a:t>Pitch Deck</a:t>
            </a: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 2025</a:t>
            </a:r>
            <a:endParaRPr lang="en-US" sz="2000" dirty="0"/>
          </a:p>
        </p:txBody>
      </p:sp>
      <p:sp>
        <p:nvSpPr>
          <p:cNvPr id="25" name="Shape 9"/>
          <p:cNvSpPr/>
          <p:nvPr/>
        </p:nvSpPr>
        <p:spPr>
          <a:xfrm>
            <a:off x="22354794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6" name="Shape 10"/>
          <p:cNvSpPr/>
          <p:nvPr/>
        </p:nvSpPr>
        <p:spPr>
          <a:xfrm>
            <a:off x="22625763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7" name="Shape 11"/>
          <p:cNvSpPr/>
          <p:nvPr/>
        </p:nvSpPr>
        <p:spPr>
          <a:xfrm>
            <a:off x="22761245" y="1528233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8" name="Shape 12"/>
          <p:cNvSpPr/>
          <p:nvPr/>
        </p:nvSpPr>
        <p:spPr>
          <a:xfrm>
            <a:off x="22473344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49594" y="5943600"/>
            <a:ext cx="10593124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Quantum computing is transforming various sectors by solving problems far beyond classical computing capabilities.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524191" y="3048000"/>
            <a:ext cx="10906430" cy="2904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0"/>
              </a:lnSpc>
              <a:buNone/>
            </a:pPr>
            <a:r>
              <a:rPr lang="en-US" sz="8600" kern="0" spc="-258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Applications of Quantum Computing</a:t>
            </a:r>
            <a:endParaRPr lang="en-US" sz="8600" dirty="0"/>
          </a:p>
        </p:txBody>
      </p:sp>
      <p:sp>
        <p:nvSpPr>
          <p:cNvPr id="4" name="Text 2"/>
          <p:cNvSpPr/>
          <p:nvPr/>
        </p:nvSpPr>
        <p:spPr>
          <a:xfrm>
            <a:off x="13120740" y="3048000"/>
            <a:ext cx="9869133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000" kern="0" spc="-3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Finance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120740" y="3721100"/>
            <a:ext cx="984373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7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Enhances risk analysis, fraud detection, and portfolio optimization.</a:t>
            </a:r>
            <a:endParaRPr lang="en-US" sz="2400" dirty="0"/>
          </a:p>
        </p:txBody>
      </p:sp>
      <p:pic>
        <p:nvPicPr>
          <p:cNvPr id="6" name="Image 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20740" y="4273550"/>
            <a:ext cx="9742118" cy="127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120740" y="4787900"/>
            <a:ext cx="9869133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000" kern="0" spc="-3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Pharmaceuticals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3120740" y="5461000"/>
            <a:ext cx="984373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7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Accelerates drug discovery and molecular simulations.</a:t>
            </a:r>
            <a:endParaRPr lang="en-US" sz="2400" dirty="0"/>
          </a:p>
        </p:txBody>
      </p:sp>
      <p:pic>
        <p:nvPicPr>
          <p:cNvPr id="9" name="Image 1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20740" y="6013450"/>
            <a:ext cx="9742118" cy="127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120740" y="6527800"/>
            <a:ext cx="9869133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000" kern="0" spc="-3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&amp; Machine Learning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13120740" y="7200900"/>
            <a:ext cx="984373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7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Optimizes deep learning models and big data analysis.</a:t>
            </a:r>
            <a:endParaRPr lang="en-US" sz="2400" dirty="0"/>
          </a:p>
        </p:txBody>
      </p:sp>
      <p:pic>
        <p:nvPicPr>
          <p:cNvPr id="12" name="Image 2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20740" y="7753350"/>
            <a:ext cx="9742118" cy="127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120740" y="8267700"/>
            <a:ext cx="9869133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000" kern="0" spc="-3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Materials Science</a:t>
            </a:r>
            <a:endParaRPr lang="en-US" sz="3000" dirty="0"/>
          </a:p>
        </p:txBody>
      </p:sp>
      <p:sp>
        <p:nvSpPr>
          <p:cNvPr id="14" name="Text 9"/>
          <p:cNvSpPr/>
          <p:nvPr/>
        </p:nvSpPr>
        <p:spPr>
          <a:xfrm>
            <a:off x="13120740" y="8940800"/>
            <a:ext cx="984373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7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Designs superconductors, advanced batteries, and new materials.</a:t>
            </a:r>
            <a:endParaRPr lang="en-US" sz="2400" dirty="0"/>
          </a:p>
        </p:txBody>
      </p:sp>
      <p:pic>
        <p:nvPicPr>
          <p:cNvPr id="15" name="Image 3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20740" y="9493250"/>
            <a:ext cx="9742118" cy="127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120740" y="10007600"/>
            <a:ext cx="9869133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000" kern="0" spc="-3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Cybersecurity</a:t>
            </a:r>
            <a:endParaRPr lang="en-US" sz="3000" dirty="0"/>
          </a:p>
        </p:txBody>
      </p:sp>
      <p:sp>
        <p:nvSpPr>
          <p:cNvPr id="17" name="Text 11"/>
          <p:cNvSpPr/>
          <p:nvPr/>
        </p:nvSpPr>
        <p:spPr>
          <a:xfrm>
            <a:off x="13120740" y="10579100"/>
            <a:ext cx="984373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7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Strengthens encryption, threat detection, and secure communications.</a:t>
            </a:r>
            <a:endParaRPr lang="en-US" sz="2400" dirty="0"/>
          </a:p>
        </p:txBody>
      </p:sp>
      <p:sp>
        <p:nvSpPr>
          <p:cNvPr id="19" name="Text 12"/>
          <p:cNvSpPr/>
          <p:nvPr/>
        </p:nvSpPr>
        <p:spPr>
          <a:xfrm>
            <a:off x="1524191" y="1447800"/>
            <a:ext cx="2015319" cy="414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Medium" pitchFamily="34" charset="0"/>
                <a:ea typeface="Plus Jakarta Sans Medium" pitchFamily="34" charset="-122"/>
                <a:cs typeface="Plus Jakarta Sans Medium" pitchFamily="34" charset="-120"/>
              </a:rPr>
              <a:t>Pitch Deck</a:t>
            </a: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 2025</a:t>
            </a:r>
            <a:endParaRPr lang="en-US" sz="2000" dirty="0"/>
          </a:p>
        </p:txBody>
      </p:sp>
      <p:sp>
        <p:nvSpPr>
          <p:cNvPr id="21" name="Shape 14"/>
          <p:cNvSpPr/>
          <p:nvPr/>
        </p:nvSpPr>
        <p:spPr>
          <a:xfrm>
            <a:off x="22625757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0" name="Shape 13"/>
          <p:cNvSpPr/>
          <p:nvPr/>
        </p:nvSpPr>
        <p:spPr>
          <a:xfrm>
            <a:off x="22354794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2" name="Shape 15"/>
          <p:cNvSpPr/>
          <p:nvPr/>
        </p:nvSpPr>
        <p:spPr>
          <a:xfrm>
            <a:off x="22761245" y="1528233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3" name="Shape 16"/>
          <p:cNvSpPr/>
          <p:nvPr/>
        </p:nvSpPr>
        <p:spPr>
          <a:xfrm>
            <a:off x="22473338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191" y="5689600"/>
            <a:ext cx="7951194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The quantum computing industry is rapidly expanding, with significant investments from tech companies, governments, and research institutions.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524191" y="11506200"/>
            <a:ext cx="524575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Visualizes the market’s projected growth from 2023 to 2030.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24191" y="2794000"/>
            <a:ext cx="9903004" cy="2904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0"/>
              </a:lnSpc>
              <a:buNone/>
            </a:pPr>
            <a:r>
              <a:rPr lang="en-US" sz="8600" kern="0" spc="-258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The Quantum Computing Market</a:t>
            </a:r>
            <a:endParaRPr lang="en-US" sz="8600" dirty="0"/>
          </a:p>
        </p:txBody>
      </p:sp>
      <p:sp>
        <p:nvSpPr>
          <p:cNvPr id="6" name="Text 3"/>
          <p:cNvSpPr/>
          <p:nvPr/>
        </p:nvSpPr>
        <p:spPr>
          <a:xfrm>
            <a:off x="1524191" y="1447800"/>
            <a:ext cx="2015319" cy="414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Medium" pitchFamily="34" charset="0"/>
                <a:ea typeface="Plus Jakarta Sans Medium" pitchFamily="34" charset="-122"/>
                <a:cs typeface="Plus Jakarta Sans Medium" pitchFamily="34" charset="-120"/>
              </a:rPr>
              <a:t>Pitch Deck</a:t>
            </a: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 2025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22354794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8" name="Shape 5"/>
          <p:cNvSpPr/>
          <p:nvPr/>
        </p:nvSpPr>
        <p:spPr>
          <a:xfrm>
            <a:off x="22625757" y="1629833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9" name="Shape 6"/>
          <p:cNvSpPr/>
          <p:nvPr/>
        </p:nvSpPr>
        <p:spPr>
          <a:xfrm>
            <a:off x="22761245" y="1528233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0" name="Shape 7"/>
          <p:cNvSpPr/>
          <p:nvPr/>
        </p:nvSpPr>
        <p:spPr>
          <a:xfrm>
            <a:off x="22473338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12" name="Image 2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336667" y="2819400"/>
            <a:ext cx="4496362" cy="4495800"/>
          </a:xfrm>
          <a:prstGeom prst="rect">
            <a:avLst/>
          </a:prstGeom>
        </p:spPr>
      </p:pic>
      <p:pic>
        <p:nvPicPr>
          <p:cNvPr id="13" name="Image 3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341092" y="2819400"/>
            <a:ext cx="4496362" cy="4495800"/>
          </a:xfrm>
          <a:prstGeom prst="rect">
            <a:avLst/>
          </a:prstGeom>
        </p:spPr>
      </p:pic>
      <p:pic>
        <p:nvPicPr>
          <p:cNvPr id="14" name="Image 4" descr=" 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336667" y="7823200"/>
            <a:ext cx="4496362" cy="4495800"/>
          </a:xfrm>
          <a:prstGeom prst="rect">
            <a:avLst/>
          </a:prstGeom>
        </p:spPr>
      </p:pic>
      <p:pic>
        <p:nvPicPr>
          <p:cNvPr id="15" name="Image 5" descr=" 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341092" y="7823200"/>
            <a:ext cx="4496362" cy="44958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6092911" y="6604000"/>
            <a:ext cx="129556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On 2027</a:t>
            </a:r>
            <a:endParaRPr lang="en-US" sz="2400" dirty="0"/>
          </a:p>
        </p:txBody>
      </p:sp>
      <p:sp>
        <p:nvSpPr>
          <p:cNvPr id="17" name="Text 9"/>
          <p:cNvSpPr/>
          <p:nvPr/>
        </p:nvSpPr>
        <p:spPr>
          <a:xfrm>
            <a:off x="19827178" y="6604000"/>
            <a:ext cx="133366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On 2030</a:t>
            </a:r>
            <a:endParaRPr lang="en-US" sz="2400" dirty="0"/>
          </a:p>
        </p:txBody>
      </p:sp>
      <p:sp>
        <p:nvSpPr>
          <p:cNvPr id="18" name="Text 10"/>
          <p:cNvSpPr/>
          <p:nvPr/>
        </p:nvSpPr>
        <p:spPr>
          <a:xfrm>
            <a:off x="16092911" y="11607800"/>
            <a:ext cx="132096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On 2023</a:t>
            </a:r>
            <a:endParaRPr lang="en-US" sz="2400" dirty="0"/>
          </a:p>
        </p:txBody>
      </p:sp>
      <p:sp>
        <p:nvSpPr>
          <p:cNvPr id="19" name="Text 11"/>
          <p:cNvSpPr/>
          <p:nvPr/>
        </p:nvSpPr>
        <p:spPr>
          <a:xfrm>
            <a:off x="20195524" y="11607800"/>
            <a:ext cx="130826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On 2025</a:t>
            </a:r>
            <a:endParaRPr lang="en-US" sz="2400" dirty="0"/>
          </a:p>
        </p:txBody>
      </p:sp>
      <p:pic>
        <p:nvPicPr>
          <p:cNvPr id="20" name="Image 6" descr=" 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8080710" y="2787650"/>
            <a:ext cx="12702" cy="9563100"/>
          </a:xfrm>
          <a:prstGeom prst="rect">
            <a:avLst/>
          </a:prstGeom>
        </p:spPr>
      </p:pic>
      <p:pic>
        <p:nvPicPr>
          <p:cNvPr id="21" name="Image 7" descr=" 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304913" y="7562849"/>
            <a:ext cx="9564295" cy="12701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14594124" y="5359400"/>
            <a:ext cx="3391324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0"/>
              </a:lnSpc>
              <a:buNone/>
            </a:pPr>
            <a:r>
              <a:rPr lang="en-US" sz="9600" kern="0" spc="-288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7.8 B</a:t>
            </a:r>
            <a:endParaRPr lang="en-US" sz="9600" dirty="0"/>
          </a:p>
        </p:txBody>
      </p:sp>
      <p:sp>
        <p:nvSpPr>
          <p:cNvPr id="23" name="Text 13"/>
          <p:cNvSpPr/>
          <p:nvPr/>
        </p:nvSpPr>
        <p:spPr>
          <a:xfrm>
            <a:off x="18595124" y="5359400"/>
            <a:ext cx="2870559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0"/>
              </a:lnSpc>
              <a:buNone/>
            </a:pPr>
            <a:r>
              <a:rPr lang="en-US" sz="9600" kern="0" spc="-288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18 B</a:t>
            </a:r>
            <a:endParaRPr lang="en-US" sz="9600" dirty="0"/>
          </a:p>
        </p:txBody>
      </p:sp>
      <p:sp>
        <p:nvSpPr>
          <p:cNvPr id="24" name="Text 14"/>
          <p:cNvSpPr/>
          <p:nvPr/>
        </p:nvSpPr>
        <p:spPr>
          <a:xfrm>
            <a:off x="14594124" y="10363200"/>
            <a:ext cx="3391324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0"/>
              </a:lnSpc>
              <a:buNone/>
            </a:pPr>
            <a:r>
              <a:rPr lang="en-US" sz="9600" kern="0" spc="-288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1.3 B</a:t>
            </a:r>
            <a:endParaRPr lang="en-US" sz="9600" dirty="0"/>
          </a:p>
        </p:txBody>
      </p:sp>
      <p:sp>
        <p:nvSpPr>
          <p:cNvPr id="25" name="Text 15"/>
          <p:cNvSpPr/>
          <p:nvPr/>
        </p:nvSpPr>
        <p:spPr>
          <a:xfrm>
            <a:off x="18696737" y="10363200"/>
            <a:ext cx="3391324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0"/>
              </a:lnSpc>
              <a:buNone/>
            </a:pPr>
            <a:r>
              <a:rPr lang="en-US" sz="9600" kern="0" spc="-288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3.5 B</a:t>
            </a:r>
            <a:endParaRPr lang="en-US" sz="9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902388" y="2933700"/>
            <a:ext cx="7062083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Quantum computing requires substantial financial backing, with investments pouring in from venture capital, governments, and corporations.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524191" y="2832100"/>
            <a:ext cx="8052806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Investment &amp; Funding in Quantum Computing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1524191" y="1447800"/>
            <a:ext cx="2015319" cy="414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Medium" pitchFamily="34" charset="0"/>
                <a:ea typeface="Plus Jakarta Sans Medium" pitchFamily="34" charset="-122"/>
                <a:cs typeface="Plus Jakarta Sans Medium" pitchFamily="34" charset="-120"/>
              </a:rPr>
              <a:t>Pitch Deck</a:t>
            </a: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 2025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2354794" y="1629834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" name="Shape 4"/>
          <p:cNvSpPr/>
          <p:nvPr/>
        </p:nvSpPr>
        <p:spPr>
          <a:xfrm>
            <a:off x="22625762" y="1629834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8" name="Shape 5"/>
          <p:cNvSpPr/>
          <p:nvPr/>
        </p:nvSpPr>
        <p:spPr>
          <a:xfrm>
            <a:off x="22761245" y="1528234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9" name="Shape 6"/>
          <p:cNvSpPr/>
          <p:nvPr/>
        </p:nvSpPr>
        <p:spPr>
          <a:xfrm>
            <a:off x="22473343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11" name="Image 2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1746" y="4673600"/>
            <a:ext cx="8383048" cy="8382000"/>
          </a:xfrm>
          <a:prstGeom prst="rect">
            <a:avLst/>
          </a:prstGeom>
        </p:spPr>
      </p:pic>
      <p:pic>
        <p:nvPicPr>
          <p:cNvPr id="13" name="Image 4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896537" y="7010400"/>
            <a:ext cx="482660" cy="482600"/>
          </a:xfrm>
          <a:prstGeom prst="rect">
            <a:avLst/>
          </a:prstGeom>
        </p:spPr>
      </p:pic>
      <p:pic>
        <p:nvPicPr>
          <p:cNvPr id="14" name="Image 5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32254" y="4673600"/>
            <a:ext cx="8383048" cy="8382000"/>
          </a:xfrm>
          <a:prstGeom prst="rect">
            <a:avLst/>
          </a:prstGeom>
        </p:spPr>
      </p:pic>
      <p:pic>
        <p:nvPicPr>
          <p:cNvPr id="15" name="Image 6" descr=" 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89499" y="5207000"/>
            <a:ext cx="6795349" cy="679450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3818944" y="8623300"/>
            <a:ext cx="4631846" cy="122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000" kern="0" spc="-2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Governments (USA, EU, China, UK, Canada) are investing billions in national quantum initiatives.</a:t>
            </a:r>
            <a:endParaRPr lang="en-US" sz="2000" dirty="0"/>
          </a:p>
        </p:txBody>
      </p:sp>
      <p:sp>
        <p:nvSpPr>
          <p:cNvPr id="17" name="Text 8"/>
          <p:cNvSpPr/>
          <p:nvPr/>
        </p:nvSpPr>
        <p:spPr>
          <a:xfrm>
            <a:off x="15910855" y="8623300"/>
            <a:ext cx="4454023" cy="122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000" kern="0" spc="-2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Tech giants like Google, IBM, Microsoft, Amazon, and Intel are leading quantum R&amp;D funding.</a:t>
            </a:r>
            <a:endParaRPr lang="en-US" sz="2000" dirty="0"/>
          </a:p>
        </p:txBody>
      </p:sp>
      <p:sp>
        <p:nvSpPr>
          <p:cNvPr id="18" name="Text 9"/>
          <p:cNvSpPr/>
          <p:nvPr/>
        </p:nvSpPr>
        <p:spPr>
          <a:xfrm>
            <a:off x="4331241" y="7924800"/>
            <a:ext cx="3734267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000" kern="0" spc="-30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Government Grants</a:t>
            </a:r>
            <a:endParaRPr lang="en-US" sz="3000" dirty="0"/>
          </a:p>
        </p:txBody>
      </p:sp>
      <p:sp>
        <p:nvSpPr>
          <p:cNvPr id="19" name="Text 10"/>
          <p:cNvSpPr/>
          <p:nvPr/>
        </p:nvSpPr>
        <p:spPr>
          <a:xfrm>
            <a:off x="16042105" y="7924800"/>
            <a:ext cx="4356645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000" kern="0" spc="-30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Corporate Investments</a:t>
            </a:r>
            <a:endParaRPr lang="en-US" sz="3000" dirty="0"/>
          </a:p>
        </p:txBody>
      </p:sp>
      <p:sp>
        <p:nvSpPr>
          <p:cNvPr id="20" name="Text 11"/>
          <p:cNvSpPr/>
          <p:nvPr/>
        </p:nvSpPr>
        <p:spPr>
          <a:xfrm>
            <a:off x="9687077" y="8623300"/>
            <a:ext cx="4809668" cy="1608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000" kern="0" spc="-2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Startups receive funding from quantum-focused VCs like Quantum Valley Investments, Andreessen Horowitz, and Sequoia Capital.</a:t>
            </a:r>
            <a:endParaRPr lang="en-US" sz="2000" dirty="0"/>
          </a:p>
        </p:txBody>
      </p:sp>
      <p:sp>
        <p:nvSpPr>
          <p:cNvPr id="21" name="Text 12"/>
          <p:cNvSpPr/>
          <p:nvPr/>
        </p:nvSpPr>
        <p:spPr>
          <a:xfrm>
            <a:off x="10212076" y="7924800"/>
            <a:ext cx="3912089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000" kern="0" spc="-30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Venture Capital (VC)</a:t>
            </a:r>
            <a:endParaRPr lang="en-US" sz="3000" dirty="0"/>
          </a:p>
        </p:txBody>
      </p:sp>
      <p:pic>
        <p:nvPicPr>
          <p:cNvPr id="23" name="Image 8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952194" y="7010400"/>
            <a:ext cx="482660" cy="482600"/>
          </a:xfrm>
          <a:prstGeom prst="rect">
            <a:avLst/>
          </a:prstGeom>
        </p:spPr>
      </p:pic>
      <p:pic>
        <p:nvPicPr>
          <p:cNvPr id="25" name="Image 10" descr=" 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20552" y="7048500"/>
            <a:ext cx="406451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191" y="5956300"/>
            <a:ext cx="5144143" cy="47371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pic>
        <p:nvPicPr>
          <p:cNvPr id="3" name="Image 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063" y="5194300"/>
            <a:ext cx="2794349" cy="2794000"/>
          </a:xfrm>
          <a:prstGeom prst="rect">
            <a:avLst/>
          </a:prstGeom>
        </p:spPr>
      </p:pic>
      <p:pic>
        <p:nvPicPr>
          <p:cNvPr id="4" name="Image 1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8063" y="6261100"/>
            <a:ext cx="2794349" cy="2794000"/>
          </a:xfrm>
          <a:prstGeom prst="rect">
            <a:avLst/>
          </a:prstGeom>
        </p:spPr>
      </p:pic>
      <p:pic>
        <p:nvPicPr>
          <p:cNvPr id="5" name="Image 2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74997" y="5194300"/>
            <a:ext cx="2794349" cy="27940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524191" y="9321800"/>
            <a:ext cx="5245756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6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Quantum decryption could break current encryption standards, exposing sensitive data.</a:t>
            </a:r>
            <a:endParaRPr lang="en-US" sz="2400" dirty="0"/>
          </a:p>
        </p:txBody>
      </p:sp>
      <p:sp>
        <p:nvSpPr>
          <p:cNvPr id="7" name="Text 2"/>
          <p:cNvSpPr/>
          <p:nvPr/>
        </p:nvSpPr>
        <p:spPr>
          <a:xfrm>
            <a:off x="1524191" y="8648700"/>
            <a:ext cx="2921365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000" kern="0" spc="-3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Privacy Threats</a:t>
            </a:r>
            <a:endParaRPr lang="en-US" sz="3000" dirty="0"/>
          </a:p>
        </p:txBody>
      </p:sp>
      <p:sp>
        <p:nvSpPr>
          <p:cNvPr id="8" name="Shape 3"/>
          <p:cNvSpPr/>
          <p:nvPr/>
        </p:nvSpPr>
        <p:spPr>
          <a:xfrm>
            <a:off x="9589699" y="5956300"/>
            <a:ext cx="5144143" cy="47371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pic>
        <p:nvPicPr>
          <p:cNvPr id="9" name="Image 3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73572" y="5194300"/>
            <a:ext cx="2794349" cy="2794000"/>
          </a:xfrm>
          <a:prstGeom prst="rect">
            <a:avLst/>
          </a:prstGeom>
        </p:spPr>
      </p:pic>
      <p:pic>
        <p:nvPicPr>
          <p:cNvPr id="10" name="Image 4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73572" y="6261100"/>
            <a:ext cx="2794349" cy="2794000"/>
          </a:xfrm>
          <a:prstGeom prst="rect">
            <a:avLst/>
          </a:prstGeom>
        </p:spPr>
      </p:pic>
      <p:pic>
        <p:nvPicPr>
          <p:cNvPr id="11" name="Image 5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40505" y="5194300"/>
            <a:ext cx="2794349" cy="279400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9589699" y="9321800"/>
            <a:ext cx="5245756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6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Quantum AI and computing power could be exploited for cyber threats or economic manipulation.</a:t>
            </a:r>
            <a:endParaRPr lang="en-US" sz="2400" dirty="0"/>
          </a:p>
        </p:txBody>
      </p:sp>
      <p:sp>
        <p:nvSpPr>
          <p:cNvPr id="13" name="Text 5"/>
          <p:cNvSpPr/>
          <p:nvPr/>
        </p:nvSpPr>
        <p:spPr>
          <a:xfrm>
            <a:off x="9589699" y="8648700"/>
            <a:ext cx="3086486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000" kern="0" spc="-3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Potential Misuse</a:t>
            </a:r>
            <a:endParaRPr lang="en-US" sz="3000" dirty="0"/>
          </a:p>
        </p:txBody>
      </p:sp>
      <p:sp>
        <p:nvSpPr>
          <p:cNvPr id="14" name="Shape 6"/>
          <p:cNvSpPr/>
          <p:nvPr/>
        </p:nvSpPr>
        <p:spPr>
          <a:xfrm>
            <a:off x="17655207" y="5956300"/>
            <a:ext cx="5144143" cy="47371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pic>
        <p:nvPicPr>
          <p:cNvPr id="15" name="Image 6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6639080" y="5194300"/>
            <a:ext cx="2794349" cy="2794000"/>
          </a:xfrm>
          <a:prstGeom prst="rect">
            <a:avLst/>
          </a:prstGeom>
        </p:spPr>
      </p:pic>
      <p:pic>
        <p:nvPicPr>
          <p:cNvPr id="16" name="Image 7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639080" y="6261100"/>
            <a:ext cx="2794349" cy="2794000"/>
          </a:xfrm>
          <a:prstGeom prst="rect">
            <a:avLst/>
          </a:prstGeom>
        </p:spPr>
      </p:pic>
      <p:pic>
        <p:nvPicPr>
          <p:cNvPr id="17" name="Image 8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706013" y="5194300"/>
            <a:ext cx="2794349" cy="2794000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17655207" y="9321800"/>
            <a:ext cx="5245756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6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Industries reliant on classical cryptography and computing may face job displacement and system vulnerabilities.</a:t>
            </a:r>
            <a:endParaRPr lang="en-US" sz="2400" dirty="0"/>
          </a:p>
        </p:txBody>
      </p:sp>
      <p:sp>
        <p:nvSpPr>
          <p:cNvPr id="19" name="Text 8"/>
          <p:cNvSpPr/>
          <p:nvPr/>
        </p:nvSpPr>
        <p:spPr>
          <a:xfrm>
            <a:off x="17655207" y="8648700"/>
            <a:ext cx="3823178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000" kern="0" spc="-3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Economic Disruption</a:t>
            </a:r>
            <a:endParaRPr lang="en-US" sz="3000" dirty="0"/>
          </a:p>
        </p:txBody>
      </p:sp>
      <p:sp>
        <p:nvSpPr>
          <p:cNvPr id="20" name="Text 9"/>
          <p:cNvSpPr/>
          <p:nvPr/>
        </p:nvSpPr>
        <p:spPr>
          <a:xfrm>
            <a:off x="15534042" y="2819400"/>
            <a:ext cx="7430429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Quantum computing has the potential to reshape industries but also presents serious ethical risks that must be addressed.</a:t>
            </a:r>
            <a:endParaRPr lang="en-US" sz="2400" dirty="0"/>
          </a:p>
        </p:txBody>
      </p:sp>
      <p:sp>
        <p:nvSpPr>
          <p:cNvPr id="21" name="Text 10"/>
          <p:cNvSpPr/>
          <p:nvPr/>
        </p:nvSpPr>
        <p:spPr>
          <a:xfrm>
            <a:off x="1524191" y="2794000"/>
            <a:ext cx="9195949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Ethical Considerations &amp; Risks</a:t>
            </a:r>
            <a:endParaRPr lang="en-US" sz="4800" dirty="0"/>
          </a:p>
        </p:txBody>
      </p:sp>
      <p:sp>
        <p:nvSpPr>
          <p:cNvPr id="23" name="Text 11"/>
          <p:cNvSpPr/>
          <p:nvPr/>
        </p:nvSpPr>
        <p:spPr>
          <a:xfrm>
            <a:off x="1524191" y="1447800"/>
            <a:ext cx="2015319" cy="414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Medium" pitchFamily="34" charset="0"/>
                <a:ea typeface="Plus Jakarta Sans Medium" pitchFamily="34" charset="-122"/>
                <a:cs typeface="Plus Jakarta Sans Medium" pitchFamily="34" charset="-120"/>
              </a:rPr>
              <a:t>Pitch Deck</a:t>
            </a: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 2025</a:t>
            </a:r>
            <a:endParaRPr lang="en-US" sz="2000" dirty="0"/>
          </a:p>
        </p:txBody>
      </p:sp>
      <p:sp>
        <p:nvSpPr>
          <p:cNvPr id="24" name="Shape 12"/>
          <p:cNvSpPr/>
          <p:nvPr/>
        </p:nvSpPr>
        <p:spPr>
          <a:xfrm>
            <a:off x="22354794" y="1629834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5" name="Shape 13"/>
          <p:cNvSpPr/>
          <p:nvPr/>
        </p:nvSpPr>
        <p:spPr>
          <a:xfrm>
            <a:off x="22625760" y="1629834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6" name="Shape 14"/>
          <p:cNvSpPr/>
          <p:nvPr/>
        </p:nvSpPr>
        <p:spPr>
          <a:xfrm>
            <a:off x="22761245" y="1528234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7" name="Shape 15"/>
          <p:cNvSpPr/>
          <p:nvPr/>
        </p:nvSpPr>
        <p:spPr>
          <a:xfrm>
            <a:off x="22473341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191" y="3835400"/>
            <a:ext cx="10567721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Governments worldwide are investing in and regulating quantum technology to ensure secure and responsible development.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524191" y="5638800"/>
            <a:ext cx="9805626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USA - </a:t>
            </a: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National Quantum Initiative Act (NQI) (2018)</a:t>
            </a:r>
            <a:endParaRPr lang="en-US" sz="2400" dirty="0"/>
          </a:p>
          <a:p>
            <a:pPr marL="685800" lvl="1" indent="-342900" algn="l">
              <a:lnSpc>
                <a:spcPts val="3600"/>
              </a:lnSpc>
              <a:buSzPct val="100000"/>
              <a:buChar char="•"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Federal investment in quantum research &amp; workforce development.</a:t>
            </a:r>
            <a:endParaRPr lang="en-US" sz="2400" dirty="0"/>
          </a:p>
          <a:p>
            <a:pPr marL="685800" lvl="1" indent="-342900" algn="l">
              <a:lnSpc>
                <a:spcPts val="3600"/>
              </a:lnSpc>
              <a:buSzPct val="100000"/>
              <a:buChar char="•"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Focus on national security and quantum cryptography.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24191" y="7581900"/>
            <a:ext cx="9805626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EU - </a:t>
            </a: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Quantum Flagship Program</a:t>
            </a:r>
            <a:endParaRPr lang="en-US" sz="2400" dirty="0"/>
          </a:p>
          <a:p>
            <a:pPr marL="685800" lvl="1" indent="-342900" algn="l">
              <a:lnSpc>
                <a:spcPts val="3600"/>
              </a:lnSpc>
              <a:buSzPct val="100000"/>
              <a:buChar char="•"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€1 billion investment over 10 years to advance quantum communication and computing.</a:t>
            </a:r>
            <a:endParaRPr lang="en-US" sz="2400" dirty="0"/>
          </a:p>
          <a:p>
            <a:pPr marL="685800" lvl="1" indent="-342900" algn="l">
              <a:lnSpc>
                <a:spcPts val="3600"/>
              </a:lnSpc>
              <a:buSzPct val="100000"/>
              <a:buChar char="•"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Supports academic and industrial partnerships in quantum R&amp;D.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524191" y="9982200"/>
            <a:ext cx="9805626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China - </a:t>
            </a: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Quantum Science Satellite &amp; National Investments</a:t>
            </a:r>
            <a:endParaRPr lang="en-US" sz="2400" dirty="0"/>
          </a:p>
          <a:p>
            <a:pPr marL="685800" lvl="1" indent="-342900" algn="l">
              <a:lnSpc>
                <a:spcPts val="3600"/>
              </a:lnSpc>
              <a:buSzPct val="100000"/>
              <a:buChar char="•"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Major funding in quantum networks and satellite encryption.</a:t>
            </a:r>
            <a:endParaRPr lang="en-US" sz="2400" dirty="0"/>
          </a:p>
          <a:p>
            <a:pPr marL="685800" lvl="1" indent="-342900" algn="l">
              <a:lnSpc>
                <a:spcPts val="3600"/>
              </a:lnSpc>
              <a:buSzPct val="100000"/>
              <a:buChar char="•"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Developed one of the first quantum communication networks.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24191" y="2794000"/>
            <a:ext cx="1497517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Quantum Computing and Government Regulations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1524191" y="1447800"/>
            <a:ext cx="2015319" cy="414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Medium" pitchFamily="34" charset="0"/>
                <a:ea typeface="Plus Jakarta Sans Medium" pitchFamily="34" charset="-122"/>
                <a:cs typeface="Plus Jakarta Sans Medium" pitchFamily="34" charset="-120"/>
              </a:rPr>
              <a:t>Pitch Deck</a:t>
            </a: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 2025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2354794" y="1629834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0" name="Shape 7"/>
          <p:cNvSpPr/>
          <p:nvPr/>
        </p:nvSpPr>
        <p:spPr>
          <a:xfrm>
            <a:off x="22625763" y="1629834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1" name="Shape 8"/>
          <p:cNvSpPr/>
          <p:nvPr/>
        </p:nvSpPr>
        <p:spPr>
          <a:xfrm>
            <a:off x="22761245" y="1528234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2" name="Shape 9"/>
          <p:cNvSpPr/>
          <p:nvPr/>
        </p:nvSpPr>
        <p:spPr>
          <a:xfrm>
            <a:off x="22473344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3" name="Shape 10"/>
          <p:cNvSpPr/>
          <p:nvPr/>
        </p:nvSpPr>
        <p:spPr>
          <a:xfrm>
            <a:off x="13171546" y="3467100"/>
            <a:ext cx="9691310" cy="86868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pic>
        <p:nvPicPr>
          <p:cNvPr id="14" name="Image 1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79610" y="3467100"/>
            <a:ext cx="8687886" cy="8686800"/>
          </a:xfrm>
          <a:prstGeom prst="rect">
            <a:avLst/>
          </a:prstGeom>
        </p:spPr>
      </p:pic>
      <p:pic>
        <p:nvPicPr>
          <p:cNvPr id="15" name="Image 2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543318" y="4343400"/>
            <a:ext cx="6947768" cy="6946900"/>
          </a:xfrm>
          <a:prstGeom prst="rect">
            <a:avLst/>
          </a:prstGeom>
        </p:spPr>
      </p:pic>
      <p:pic>
        <p:nvPicPr>
          <p:cNvPr id="16" name="Image 3" descr=" 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124165" y="3924300"/>
            <a:ext cx="7786073" cy="7785100"/>
          </a:xfrm>
          <a:prstGeom prst="rect">
            <a:avLst/>
          </a:prstGeom>
        </p:spPr>
      </p:pic>
      <p:pic>
        <p:nvPicPr>
          <p:cNvPr id="17" name="Image 4" descr=" 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205051" y="5359592"/>
            <a:ext cx="7624302" cy="4685916"/>
          </a:xfrm>
          <a:prstGeom prst="rect">
            <a:avLst/>
          </a:prstGeom>
        </p:spPr>
      </p:pic>
      <p:pic>
        <p:nvPicPr>
          <p:cNvPr id="18" name="Image 5" descr=" 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205051" y="5359592"/>
            <a:ext cx="7624302" cy="4685912"/>
          </a:xfrm>
          <a:prstGeom prst="rect">
            <a:avLst/>
          </a:prstGeom>
        </p:spPr>
      </p:pic>
      <p:pic>
        <p:nvPicPr>
          <p:cNvPr id="19" name="Image 6" descr=" 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4549668" y="4337050"/>
            <a:ext cx="6947768" cy="695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4191" y="9944100"/>
            <a:ext cx="5144143" cy="3771900"/>
          </a:xfrm>
          <a:prstGeom prst="rect">
            <a:avLst/>
          </a:prstGeom>
        </p:spPr>
      </p:pic>
      <p:pic>
        <p:nvPicPr>
          <p:cNvPr id="4" name="Image 2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22365" y="8928100"/>
            <a:ext cx="5144143" cy="4787900"/>
          </a:xfrm>
          <a:prstGeom prst="rect">
            <a:avLst/>
          </a:prstGeom>
        </p:spPr>
      </p:pic>
      <p:pic>
        <p:nvPicPr>
          <p:cNvPr id="5" name="Image 3" descr=" 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320540" y="7594600"/>
            <a:ext cx="5144143" cy="6121400"/>
          </a:xfrm>
          <a:prstGeom prst="rect">
            <a:avLst/>
          </a:prstGeom>
        </p:spPr>
      </p:pic>
      <p:pic>
        <p:nvPicPr>
          <p:cNvPr id="6" name="Image 4" descr=" 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7718715" y="5880100"/>
            <a:ext cx="5144143" cy="78359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032254" y="10452100"/>
            <a:ext cx="4051806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Advancements in qubit stability and quantum error correction improve computational accuracy.</a:t>
            </a:r>
            <a:endParaRPr lang="en-US" sz="2400" dirty="0"/>
          </a:p>
        </p:txBody>
      </p:sp>
      <p:sp>
        <p:nvSpPr>
          <p:cNvPr id="8" name="Text 1"/>
          <p:cNvSpPr/>
          <p:nvPr/>
        </p:nvSpPr>
        <p:spPr>
          <a:xfrm>
            <a:off x="1524191" y="9194800"/>
            <a:ext cx="1066933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000" kern="0" spc="-3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2025</a:t>
            </a:r>
            <a:endParaRPr lang="en-US" sz="3000" dirty="0"/>
          </a:p>
        </p:txBody>
      </p:sp>
      <p:sp>
        <p:nvSpPr>
          <p:cNvPr id="9" name="Text 2"/>
          <p:cNvSpPr/>
          <p:nvPr/>
        </p:nvSpPr>
        <p:spPr>
          <a:xfrm>
            <a:off x="6922365" y="8178800"/>
            <a:ext cx="1092337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000" kern="0" spc="-3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2030</a:t>
            </a:r>
            <a:endParaRPr lang="en-US" sz="3000" dirty="0"/>
          </a:p>
        </p:txBody>
      </p:sp>
      <p:sp>
        <p:nvSpPr>
          <p:cNvPr id="10" name="Text 3"/>
          <p:cNvSpPr/>
          <p:nvPr/>
        </p:nvSpPr>
        <p:spPr>
          <a:xfrm>
            <a:off x="12320540" y="6845300"/>
            <a:ext cx="1079635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000" kern="0" spc="-3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2035</a:t>
            </a:r>
            <a:endParaRPr lang="en-US" sz="3000" dirty="0"/>
          </a:p>
        </p:txBody>
      </p:sp>
      <p:sp>
        <p:nvSpPr>
          <p:cNvPr id="11" name="Text 4"/>
          <p:cNvSpPr/>
          <p:nvPr/>
        </p:nvSpPr>
        <p:spPr>
          <a:xfrm>
            <a:off x="17718715" y="5130800"/>
            <a:ext cx="1092337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000" kern="0" spc="-3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2040</a:t>
            </a:r>
            <a:endParaRPr lang="en-US" sz="3000" dirty="0"/>
          </a:p>
        </p:txBody>
      </p:sp>
      <p:sp>
        <p:nvSpPr>
          <p:cNvPr id="12" name="Text 5"/>
          <p:cNvSpPr/>
          <p:nvPr/>
        </p:nvSpPr>
        <p:spPr>
          <a:xfrm>
            <a:off x="7430429" y="9436100"/>
            <a:ext cx="4216927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Scalable quantum processors enable commercial applications in finance, AI, and cryptography.</a:t>
            </a:r>
            <a:endParaRPr lang="en-US" sz="2400" dirty="0"/>
          </a:p>
        </p:txBody>
      </p:sp>
      <p:sp>
        <p:nvSpPr>
          <p:cNvPr id="13" name="Text 6"/>
          <p:cNvSpPr/>
          <p:nvPr/>
        </p:nvSpPr>
        <p:spPr>
          <a:xfrm>
            <a:off x="12828603" y="8102600"/>
            <a:ext cx="3886686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Quantum AI integration, enhancing deep learning, simulations, and optimization problems.</a:t>
            </a:r>
            <a:endParaRPr lang="en-US" sz="2400" dirty="0"/>
          </a:p>
        </p:txBody>
      </p:sp>
      <p:sp>
        <p:nvSpPr>
          <p:cNvPr id="14" name="Text 7"/>
          <p:cNvSpPr/>
          <p:nvPr/>
        </p:nvSpPr>
        <p:spPr>
          <a:xfrm>
            <a:off x="18226778" y="6388100"/>
            <a:ext cx="3962895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Widespread commercial adoption of quantum computing across industries.</a:t>
            </a:r>
            <a:endParaRPr lang="en-US" sz="2400" dirty="0"/>
          </a:p>
        </p:txBody>
      </p:sp>
      <p:sp>
        <p:nvSpPr>
          <p:cNvPr id="15" name="Text 8"/>
          <p:cNvSpPr/>
          <p:nvPr/>
        </p:nvSpPr>
        <p:spPr>
          <a:xfrm>
            <a:off x="15025978" y="2870200"/>
            <a:ext cx="7938492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Quantum computing is expected to progress through key milestones, shaping the next decades of scientific and technological breakthroughs.</a:t>
            </a:r>
            <a:endParaRPr lang="en-US" sz="2400" dirty="0"/>
          </a:p>
        </p:txBody>
      </p:sp>
      <p:sp>
        <p:nvSpPr>
          <p:cNvPr id="16" name="Text 9"/>
          <p:cNvSpPr/>
          <p:nvPr/>
        </p:nvSpPr>
        <p:spPr>
          <a:xfrm>
            <a:off x="1524191" y="2921000"/>
            <a:ext cx="10999575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Roadmap for Quantum Computing Development</a:t>
            </a:r>
            <a:endParaRPr lang="en-US" sz="4800" dirty="0"/>
          </a:p>
        </p:txBody>
      </p:sp>
      <p:sp>
        <p:nvSpPr>
          <p:cNvPr id="17" name="Text 10"/>
          <p:cNvSpPr/>
          <p:nvPr/>
        </p:nvSpPr>
        <p:spPr>
          <a:xfrm>
            <a:off x="12320540" y="6845300"/>
            <a:ext cx="1079635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000" kern="0" spc="-3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2035</a:t>
            </a:r>
            <a:endParaRPr lang="en-US" sz="3000" dirty="0"/>
          </a:p>
        </p:txBody>
      </p:sp>
      <p:sp>
        <p:nvSpPr>
          <p:cNvPr id="18" name="Text 11"/>
          <p:cNvSpPr/>
          <p:nvPr/>
        </p:nvSpPr>
        <p:spPr>
          <a:xfrm>
            <a:off x="17718715" y="5130800"/>
            <a:ext cx="1092337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000" kern="0" spc="-3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2040</a:t>
            </a:r>
            <a:endParaRPr lang="en-US" sz="3000" dirty="0"/>
          </a:p>
        </p:txBody>
      </p:sp>
      <p:sp>
        <p:nvSpPr>
          <p:cNvPr id="20" name="Text 12"/>
          <p:cNvSpPr/>
          <p:nvPr/>
        </p:nvSpPr>
        <p:spPr>
          <a:xfrm>
            <a:off x="1524191" y="1447800"/>
            <a:ext cx="2015319" cy="414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Medium" pitchFamily="34" charset="0"/>
                <a:ea typeface="Plus Jakarta Sans Medium" pitchFamily="34" charset="-122"/>
                <a:cs typeface="Plus Jakarta Sans Medium" pitchFamily="34" charset="-120"/>
              </a:rPr>
              <a:t>Pitch Deck</a:t>
            </a: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 2025</a:t>
            </a:r>
            <a:endParaRPr lang="en-US" sz="2000" dirty="0"/>
          </a:p>
        </p:txBody>
      </p:sp>
      <p:sp>
        <p:nvSpPr>
          <p:cNvPr id="21" name="Shape 13"/>
          <p:cNvSpPr/>
          <p:nvPr/>
        </p:nvSpPr>
        <p:spPr>
          <a:xfrm>
            <a:off x="22354794" y="1629832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2" name="Shape 14"/>
          <p:cNvSpPr/>
          <p:nvPr/>
        </p:nvSpPr>
        <p:spPr>
          <a:xfrm>
            <a:off x="22625762" y="1629832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3" name="Shape 15"/>
          <p:cNvSpPr/>
          <p:nvPr/>
        </p:nvSpPr>
        <p:spPr>
          <a:xfrm>
            <a:off x="22761245" y="1528232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4" name="Shape 16"/>
          <p:cNvSpPr/>
          <p:nvPr/>
        </p:nvSpPr>
        <p:spPr>
          <a:xfrm>
            <a:off x="22473343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191" y="6731000"/>
            <a:ext cx="7951194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Despite its potential, quantum computing faces major barriers that must be solved for widespread adoption.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524191" y="7950200"/>
            <a:ext cx="7023978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Solving these challenges is crucial for making quantum computing a practical and scalable technology for the future.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524191" y="3556000"/>
            <a:ext cx="8213693" cy="2904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0"/>
              </a:lnSpc>
              <a:buNone/>
            </a:pPr>
            <a:r>
              <a:rPr lang="en-US" sz="8600" kern="0" spc="-258" dirty="0">
                <a:solidFill>
                  <a:srgbClr val="DEDEDE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Challenges to Overcome</a:t>
            </a:r>
            <a:endParaRPr lang="en-US" sz="8600" dirty="0"/>
          </a:p>
        </p:txBody>
      </p:sp>
      <p:sp>
        <p:nvSpPr>
          <p:cNvPr id="5" name="Text 3"/>
          <p:cNvSpPr/>
          <p:nvPr/>
        </p:nvSpPr>
        <p:spPr>
          <a:xfrm>
            <a:off x="13120740" y="3556000"/>
            <a:ext cx="9869133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000" kern="0" spc="-3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Qubit Stability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120740" y="4229100"/>
            <a:ext cx="984373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7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Quantum states are fragile, leading to computational errors.</a:t>
            </a:r>
            <a:endParaRPr lang="en-US" sz="2400" dirty="0"/>
          </a:p>
        </p:txBody>
      </p:sp>
      <p:pic>
        <p:nvPicPr>
          <p:cNvPr id="7" name="Image 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20740" y="4781550"/>
            <a:ext cx="9742118" cy="127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120740" y="5410200"/>
            <a:ext cx="9869133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000" kern="0" spc="-3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High Operational Costs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3120740" y="6057900"/>
            <a:ext cx="984373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7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Quantum hardware requires extreme cooling and specialized environments.</a:t>
            </a:r>
            <a:endParaRPr lang="en-US" sz="2400" dirty="0"/>
          </a:p>
        </p:txBody>
      </p:sp>
      <p:pic>
        <p:nvPicPr>
          <p:cNvPr id="10" name="Image 1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20740" y="7042150"/>
            <a:ext cx="9742118" cy="127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120740" y="7670800"/>
            <a:ext cx="9869133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000" kern="0" spc="-3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Error Rates &amp; Decoherence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13120740" y="8343900"/>
            <a:ext cx="984373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7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Quantum systems struggle with maintaining coherence over time.</a:t>
            </a:r>
            <a:endParaRPr lang="en-US" sz="2400" dirty="0"/>
          </a:p>
        </p:txBody>
      </p:sp>
      <p:pic>
        <p:nvPicPr>
          <p:cNvPr id="13" name="Image 2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20740" y="8896350"/>
            <a:ext cx="9742118" cy="127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120740" y="9525000"/>
            <a:ext cx="265463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000" kern="0" spc="-3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Security Risks</a:t>
            </a:r>
            <a:endParaRPr lang="en-US" sz="3000" dirty="0"/>
          </a:p>
        </p:txBody>
      </p:sp>
      <p:sp>
        <p:nvSpPr>
          <p:cNvPr id="15" name="Text 10"/>
          <p:cNvSpPr/>
          <p:nvPr/>
        </p:nvSpPr>
        <p:spPr>
          <a:xfrm>
            <a:off x="13120740" y="10045700"/>
            <a:ext cx="984373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7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Quantum computing threatens traditional encryption methods.</a:t>
            </a:r>
            <a:endParaRPr lang="en-US" sz="2400" dirty="0"/>
          </a:p>
        </p:txBody>
      </p:sp>
      <p:sp>
        <p:nvSpPr>
          <p:cNvPr id="17" name="Text 11"/>
          <p:cNvSpPr/>
          <p:nvPr/>
        </p:nvSpPr>
        <p:spPr>
          <a:xfrm>
            <a:off x="1524191" y="1447800"/>
            <a:ext cx="2015319" cy="414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Medium" pitchFamily="34" charset="0"/>
                <a:ea typeface="Plus Jakarta Sans Medium" pitchFamily="34" charset="-122"/>
                <a:cs typeface="Plus Jakarta Sans Medium" pitchFamily="34" charset="-120"/>
              </a:rPr>
              <a:t>Pitch Deck</a:t>
            </a: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 2025</a:t>
            </a:r>
            <a:endParaRPr lang="en-US" sz="2000" dirty="0"/>
          </a:p>
        </p:txBody>
      </p:sp>
      <p:sp>
        <p:nvSpPr>
          <p:cNvPr id="18" name="Shape 12"/>
          <p:cNvSpPr/>
          <p:nvPr/>
        </p:nvSpPr>
        <p:spPr>
          <a:xfrm>
            <a:off x="22354794" y="1629832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9" name="Shape 13"/>
          <p:cNvSpPr/>
          <p:nvPr/>
        </p:nvSpPr>
        <p:spPr>
          <a:xfrm>
            <a:off x="22625760" y="1629832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0" name="Shape 14"/>
          <p:cNvSpPr/>
          <p:nvPr/>
        </p:nvSpPr>
        <p:spPr>
          <a:xfrm>
            <a:off x="22761245" y="1528232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1" name="Shape 15"/>
          <p:cNvSpPr/>
          <p:nvPr/>
        </p:nvSpPr>
        <p:spPr>
          <a:xfrm>
            <a:off x="22473341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phic 20">
            <a:extLst>
              <a:ext uri="{FF2B5EF4-FFF2-40B4-BE49-F238E27FC236}">
                <a16:creationId xmlns:a16="http://schemas.microsoft.com/office/drawing/2014/main" id="{95023EAB-9C79-4155-98BE-8EBD3B4D6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121740" y="3327400"/>
            <a:ext cx="5144143" cy="3810476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950C1CC7-4BBB-47D6-8376-E4544073F8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121739" y="8064024"/>
            <a:ext cx="5144143" cy="3810476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87DF5172-3A1C-444C-AECF-2C2068088F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8727" y="8064500"/>
            <a:ext cx="5144143" cy="38104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731416" y="3962400"/>
            <a:ext cx="3429429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&amp; Machine Learning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7731416" y="4673600"/>
            <a:ext cx="4026403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Enhances deep learning, neural networks, and pattern recognition for faster AI training.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24191" y="5969000"/>
            <a:ext cx="6515914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Quantum computing is expected to redefine industries by solving complex problems that classical computers cannot handle efficiently.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524191" y="7848600"/>
            <a:ext cx="6515914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Quantum computing will revolutionize AI, climate science, and defense, shaping the future of innovation.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524191" y="2794000"/>
            <a:ext cx="10906430" cy="2904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0"/>
              </a:lnSpc>
              <a:buNone/>
            </a:pPr>
            <a:r>
              <a:rPr lang="en-US" sz="8600" kern="0" spc="-258" dirty="0">
                <a:solidFill>
                  <a:srgbClr val="DEDEDE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Future Applications &amp; Predictions</a:t>
            </a:r>
            <a:endParaRPr lang="en-US" sz="8600" dirty="0"/>
          </a:p>
        </p:txBody>
      </p:sp>
      <p:sp>
        <p:nvSpPr>
          <p:cNvPr id="9" name="Text 5"/>
          <p:cNvSpPr/>
          <p:nvPr/>
        </p:nvSpPr>
        <p:spPr>
          <a:xfrm>
            <a:off x="1524191" y="1447800"/>
            <a:ext cx="2015319" cy="414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Medium" pitchFamily="34" charset="0"/>
                <a:ea typeface="Plus Jakarta Sans Medium" pitchFamily="34" charset="-122"/>
                <a:cs typeface="Plus Jakarta Sans Medium" pitchFamily="34" charset="-120"/>
              </a:rPr>
              <a:t>Pitch Deck</a:t>
            </a: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 2025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22354794" y="1629832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1" name="Shape 7"/>
          <p:cNvSpPr/>
          <p:nvPr/>
        </p:nvSpPr>
        <p:spPr>
          <a:xfrm>
            <a:off x="22625763" y="1629832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2" name="Shape 8"/>
          <p:cNvSpPr/>
          <p:nvPr/>
        </p:nvSpPr>
        <p:spPr>
          <a:xfrm>
            <a:off x="22761245" y="1528232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3" name="Shape 9"/>
          <p:cNvSpPr/>
          <p:nvPr/>
        </p:nvSpPr>
        <p:spPr>
          <a:xfrm>
            <a:off x="22473344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5" name="Text 10"/>
          <p:cNvSpPr/>
          <p:nvPr/>
        </p:nvSpPr>
        <p:spPr>
          <a:xfrm>
            <a:off x="17731416" y="8699500"/>
            <a:ext cx="271814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Climate Modeling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17731416" y="9410700"/>
            <a:ext cx="4026403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Enables precise weather forecasting and climate impact predictions.</a:t>
            </a:r>
            <a:endParaRPr lang="en-US" sz="2400" dirty="0"/>
          </a:p>
        </p:txBody>
      </p:sp>
      <p:sp>
        <p:nvSpPr>
          <p:cNvPr id="18" name="Text 12"/>
          <p:cNvSpPr/>
          <p:nvPr/>
        </p:nvSpPr>
        <p:spPr>
          <a:xfrm>
            <a:off x="12028403" y="8699500"/>
            <a:ext cx="3835879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Defense &amp; Cybersecurity</a:t>
            </a:r>
            <a:endParaRPr lang="en-US" sz="2400" dirty="0"/>
          </a:p>
        </p:txBody>
      </p:sp>
      <p:sp>
        <p:nvSpPr>
          <p:cNvPr id="19" name="Text 13"/>
          <p:cNvSpPr/>
          <p:nvPr/>
        </p:nvSpPr>
        <p:spPr>
          <a:xfrm>
            <a:off x="12028403" y="9410700"/>
            <a:ext cx="4026403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Enhances quantum encryption, secure communication, and threat detection.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84660" y="4064000"/>
            <a:ext cx="14378197" cy="7162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24191" y="5930900"/>
            <a:ext cx="5855432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Quantum computing is on the brink of revolutionizing technology, but it still faces significant hurdles before mass adoption.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24191" y="8140700"/>
            <a:ext cx="5855432" cy="238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Ongoing research enhances qubit stability and error correction. Growing investments drive industry expansion. Overcoming scalability challenges is key to mainstream adoption.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24191" y="4064000"/>
            <a:ext cx="7163695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dirty="0">
                <a:solidFill>
                  <a:srgbClr val="DEDEDE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Final Thoughts &amp; Summary</a:t>
            </a:r>
            <a:endParaRPr lang="en-US" sz="4800" dirty="0"/>
          </a:p>
        </p:txBody>
      </p:sp>
      <p:pic>
        <p:nvPicPr>
          <p:cNvPr id="7" name="Image 2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81635" y="4533900"/>
            <a:ext cx="6503213" cy="6223000"/>
          </a:xfrm>
          <a:prstGeom prst="rect">
            <a:avLst/>
          </a:prstGeom>
        </p:spPr>
      </p:pic>
      <p:pic>
        <p:nvPicPr>
          <p:cNvPr id="8" name="Image 3" descr=" 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838880" y="4533900"/>
            <a:ext cx="6503213" cy="62230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0428003" y="5020072"/>
            <a:ext cx="3810476" cy="6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7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Revolutionary Potentials</a:t>
            </a:r>
            <a:endParaRPr lang="en-US" sz="2400" dirty="0"/>
          </a:p>
        </p:txBody>
      </p:sp>
      <p:sp>
        <p:nvSpPr>
          <p:cNvPr id="10" name="Text 4"/>
          <p:cNvSpPr/>
          <p:nvPr/>
        </p:nvSpPr>
        <p:spPr>
          <a:xfrm>
            <a:off x="17185248" y="5020072"/>
            <a:ext cx="3912089" cy="6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7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Current Limitations</a:t>
            </a:r>
            <a:endParaRPr lang="en-US" sz="2400" dirty="0"/>
          </a:p>
        </p:txBody>
      </p:sp>
      <p:sp>
        <p:nvSpPr>
          <p:cNvPr id="11" name="Text 5"/>
          <p:cNvSpPr/>
          <p:nvPr/>
        </p:nvSpPr>
        <p:spPr>
          <a:xfrm>
            <a:off x="9589699" y="5969000"/>
            <a:ext cx="5470150" cy="122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kern="0" spc="-20" dirty="0">
                <a:solidFill>
                  <a:srgbClr val="FFFFFF">
                    <a:alpha val="7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Exponential Computing Power: Solves problems far beyond classical computing capabilities.</a:t>
            </a:r>
            <a:endParaRPr lang="en-US" sz="2000" dirty="0"/>
          </a:p>
        </p:txBody>
      </p:sp>
      <p:pic>
        <p:nvPicPr>
          <p:cNvPr id="12" name="Image 4" descr=" 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89699" y="7131050"/>
            <a:ext cx="5385473" cy="127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589699" y="7391400"/>
            <a:ext cx="5470150" cy="846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kern="0" spc="-20" dirty="0">
                <a:solidFill>
                  <a:srgbClr val="FFFFFF">
                    <a:alpha val="7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AI Breakthroughs: Accelerates machine learning, optimization, and deep learning.</a:t>
            </a:r>
            <a:endParaRPr lang="en-US" sz="2000" dirty="0"/>
          </a:p>
        </p:txBody>
      </p:sp>
      <p:pic>
        <p:nvPicPr>
          <p:cNvPr id="14" name="Image 5" descr=" 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89699" y="8096250"/>
            <a:ext cx="5385473" cy="127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589699" y="8356600"/>
            <a:ext cx="5470150" cy="846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kern="0" spc="-20" dirty="0">
                <a:solidFill>
                  <a:srgbClr val="FFFFFF">
                    <a:alpha val="7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Security Advancements: Enables quantum encryption for next-gen cybersecurity</a:t>
            </a:r>
            <a:endParaRPr lang="en-US" sz="2000" dirty="0"/>
          </a:p>
        </p:txBody>
      </p:sp>
      <p:sp>
        <p:nvSpPr>
          <p:cNvPr id="16" name="Text 8"/>
          <p:cNvSpPr/>
          <p:nvPr/>
        </p:nvSpPr>
        <p:spPr>
          <a:xfrm>
            <a:off x="16346943" y="5969000"/>
            <a:ext cx="5609868" cy="846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kern="0" spc="-20" dirty="0">
                <a:solidFill>
                  <a:srgbClr val="FFFFFF">
                    <a:alpha val="7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Hardware Challenges: Qubits require extreme stability and cryogenic cooling.</a:t>
            </a:r>
            <a:endParaRPr lang="en-US" sz="2000" dirty="0"/>
          </a:p>
        </p:txBody>
      </p:sp>
      <p:pic>
        <p:nvPicPr>
          <p:cNvPr id="17" name="Image 6" descr=" 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346943" y="7105650"/>
            <a:ext cx="5525191" cy="1270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6346943" y="7340600"/>
            <a:ext cx="5609868" cy="846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kern="0" spc="-20" dirty="0">
                <a:solidFill>
                  <a:srgbClr val="FFFFFF">
                    <a:alpha val="7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High Costs: Quantum systems are expensive to build and maintain.</a:t>
            </a:r>
            <a:endParaRPr lang="en-US" sz="2000" dirty="0"/>
          </a:p>
        </p:txBody>
      </p:sp>
      <p:pic>
        <p:nvPicPr>
          <p:cNvPr id="19" name="Image 7" descr=" 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6346943" y="8934450"/>
            <a:ext cx="5525191" cy="1270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6346943" y="9169400"/>
            <a:ext cx="5609868" cy="846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000" kern="0" spc="-20" dirty="0">
                <a:solidFill>
                  <a:srgbClr val="FFFFFF">
                    <a:alpha val="7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Error Rates: Quantum calculations need better error correction for reliability.</a:t>
            </a:r>
            <a:endParaRPr lang="en-US" sz="2000" dirty="0"/>
          </a:p>
        </p:txBody>
      </p:sp>
      <p:sp>
        <p:nvSpPr>
          <p:cNvPr id="22" name="Text 11"/>
          <p:cNvSpPr/>
          <p:nvPr/>
        </p:nvSpPr>
        <p:spPr>
          <a:xfrm>
            <a:off x="1524191" y="1447800"/>
            <a:ext cx="2015319" cy="414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Medium" pitchFamily="34" charset="0"/>
                <a:ea typeface="Plus Jakarta Sans Medium" pitchFamily="34" charset="-122"/>
                <a:cs typeface="Plus Jakarta Sans Medium" pitchFamily="34" charset="-120"/>
              </a:rPr>
              <a:t>Pitch Deck</a:t>
            </a: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 2025</a:t>
            </a:r>
            <a:endParaRPr lang="en-US" sz="2000" dirty="0"/>
          </a:p>
        </p:txBody>
      </p:sp>
      <p:sp>
        <p:nvSpPr>
          <p:cNvPr id="23" name="Shape 12"/>
          <p:cNvSpPr/>
          <p:nvPr/>
        </p:nvSpPr>
        <p:spPr>
          <a:xfrm>
            <a:off x="22354794" y="1629832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4" name="Shape 13"/>
          <p:cNvSpPr/>
          <p:nvPr/>
        </p:nvSpPr>
        <p:spPr>
          <a:xfrm>
            <a:off x="22625763" y="1629832"/>
            <a:ext cx="135484" cy="135467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5" name="Shape 14"/>
          <p:cNvSpPr/>
          <p:nvPr/>
        </p:nvSpPr>
        <p:spPr>
          <a:xfrm>
            <a:off x="22761245" y="1528232"/>
            <a:ext cx="101613" cy="101600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6" name="Shape 15"/>
          <p:cNvSpPr/>
          <p:nvPr/>
        </p:nvSpPr>
        <p:spPr>
          <a:xfrm>
            <a:off x="22473344" y="1460500"/>
            <a:ext cx="169354" cy="169333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raphic 40">
            <a:extLst>
              <a:ext uri="{FF2B5EF4-FFF2-40B4-BE49-F238E27FC236}">
                <a16:creationId xmlns:a16="http://schemas.microsoft.com/office/drawing/2014/main" id="{FBE34465-CE97-4C34-A3A2-AD75980DE8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24387175" cy="1371600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524191" y="6350000"/>
            <a:ext cx="1064393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There are multiple ways to contribute to and explore the field of quantum computing, from academic research to industry initiatives.</a:t>
            </a:r>
            <a:endParaRPr lang="en-US" sz="2400" dirty="0"/>
          </a:p>
        </p:txBody>
      </p:sp>
      <p:sp>
        <p:nvSpPr>
          <p:cNvPr id="9" name="Text 1"/>
          <p:cNvSpPr/>
          <p:nvPr/>
        </p:nvSpPr>
        <p:spPr>
          <a:xfrm>
            <a:off x="1524191" y="8902700"/>
            <a:ext cx="4407451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MIT, Harvard, Oxford – Leading quantum computing research programs.</a:t>
            </a:r>
            <a:endParaRPr lang="en-US" sz="2400" dirty="0"/>
          </a:p>
        </p:txBody>
      </p:sp>
      <p:sp>
        <p:nvSpPr>
          <p:cNvPr id="10" name="Text 2"/>
          <p:cNvSpPr/>
          <p:nvPr/>
        </p:nvSpPr>
        <p:spPr>
          <a:xfrm>
            <a:off x="1524191" y="8280400"/>
            <a:ext cx="3378622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Academic Institutions</a:t>
            </a:r>
            <a:endParaRPr lang="en-US" sz="2400" dirty="0"/>
          </a:p>
        </p:txBody>
      </p:sp>
      <p:sp>
        <p:nvSpPr>
          <p:cNvPr id="11" name="Text 3"/>
          <p:cNvSpPr/>
          <p:nvPr/>
        </p:nvSpPr>
        <p:spPr>
          <a:xfrm>
            <a:off x="6592124" y="8280400"/>
            <a:ext cx="4343943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Industry Research Programs</a:t>
            </a:r>
            <a:endParaRPr lang="en-US" sz="2400" dirty="0"/>
          </a:p>
        </p:txBody>
      </p:sp>
      <p:sp>
        <p:nvSpPr>
          <p:cNvPr id="12" name="Text 4"/>
          <p:cNvSpPr/>
          <p:nvPr/>
        </p:nvSpPr>
        <p:spPr>
          <a:xfrm>
            <a:off x="6592124" y="8902700"/>
            <a:ext cx="4724991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IBM Quantum, Google Quantum AI – Open platforms for hands-on quantum experimentation.</a:t>
            </a:r>
            <a:endParaRPr lang="en-US" sz="2400" dirty="0"/>
          </a:p>
        </p:txBody>
      </p:sp>
      <p:sp>
        <p:nvSpPr>
          <p:cNvPr id="13" name="Text 5"/>
          <p:cNvSpPr/>
          <p:nvPr/>
        </p:nvSpPr>
        <p:spPr>
          <a:xfrm>
            <a:off x="11977597" y="8280400"/>
            <a:ext cx="4674184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80"/>
              </a:lnSpc>
              <a:buNone/>
            </a:pPr>
            <a:r>
              <a:rPr lang="en-US" sz="2400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Quantum Startups &amp; Initiatives </a:t>
            </a:r>
            <a:endParaRPr lang="en-US" sz="2400" dirty="0"/>
          </a:p>
        </p:txBody>
      </p:sp>
      <p:sp>
        <p:nvSpPr>
          <p:cNvPr id="14" name="Text 6"/>
          <p:cNvSpPr/>
          <p:nvPr/>
        </p:nvSpPr>
        <p:spPr>
          <a:xfrm>
            <a:off x="11977597" y="8902700"/>
            <a:ext cx="4737692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400" kern="0" spc="-48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Government-funded projects and private companies pioneering quantum advancements.</a:t>
            </a:r>
            <a:endParaRPr lang="en-US" sz="2400" dirty="0"/>
          </a:p>
        </p:txBody>
      </p:sp>
      <p:sp>
        <p:nvSpPr>
          <p:cNvPr id="15" name="Text 7"/>
          <p:cNvSpPr/>
          <p:nvPr/>
        </p:nvSpPr>
        <p:spPr>
          <a:xfrm>
            <a:off x="1524191" y="2794000"/>
            <a:ext cx="15860049" cy="2904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000"/>
              </a:lnSpc>
              <a:buNone/>
            </a:pPr>
            <a:r>
              <a:rPr lang="en-US" sz="8600" kern="0" spc="-258" dirty="0">
                <a:solidFill>
                  <a:srgbClr val="FFFFFF">
                    <a:alpha val="100000"/>
                  </a:srgbClr>
                </a:solidFill>
                <a:latin typeface="Archivo Bold" pitchFamily="34" charset="0"/>
                <a:ea typeface="Archivo Bold" pitchFamily="34" charset="-122"/>
                <a:cs typeface="Archivo Bold" pitchFamily="34" charset="-120"/>
              </a:rPr>
              <a:t>How to Get Involved in Quantum Computing Research.</a:t>
            </a:r>
            <a:endParaRPr lang="en-US" sz="8600" dirty="0"/>
          </a:p>
        </p:txBody>
      </p:sp>
      <p:pic>
        <p:nvPicPr>
          <p:cNvPr id="17" name="Image 7" descr=" 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58059" y="12132729"/>
            <a:ext cx="338713" cy="270935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2133867" y="12071350"/>
            <a:ext cx="289596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kern="0" spc="-24" dirty="0">
                <a:solidFill>
                  <a:srgbClr val="FFFFFF">
                    <a:alpha val="100000"/>
                  </a:srgbClr>
                </a:solidFill>
                <a:latin typeface="Satoshi Regular" pitchFamily="34" charset="0"/>
                <a:ea typeface="Satoshi Regular" pitchFamily="34" charset="-122"/>
                <a:cs typeface="Satoshi Regular" pitchFamily="34" charset="-120"/>
              </a:rPr>
              <a:t>contact@neuroz.com</a:t>
            </a:r>
            <a:endParaRPr lang="en-US" sz="2400" dirty="0"/>
          </a:p>
        </p:txBody>
      </p:sp>
      <p:pic>
        <p:nvPicPr>
          <p:cNvPr id="20" name="Image 9" descr=" 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07651" y="12103100"/>
            <a:ext cx="330241" cy="330200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5779222" y="12071350"/>
            <a:ext cx="236249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kern="0" spc="-24" dirty="0">
                <a:solidFill>
                  <a:srgbClr val="FFFFFF">
                    <a:alpha val="100000"/>
                  </a:srgbClr>
                </a:solidFill>
                <a:latin typeface="Satoshi Regular" pitchFamily="34" charset="0"/>
                <a:ea typeface="Satoshi Regular" pitchFamily="34" charset="-122"/>
                <a:cs typeface="Satoshi Regular" pitchFamily="34" charset="-120"/>
              </a:rPr>
              <a:t>www.neuroz.com</a:t>
            </a:r>
            <a:endParaRPr lang="en-US" sz="2400" dirty="0"/>
          </a:p>
        </p:txBody>
      </p:sp>
      <p:pic>
        <p:nvPicPr>
          <p:cNvPr id="23" name="Image 11" descr=" 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43926" y="12158135"/>
            <a:ext cx="50806" cy="50800"/>
          </a:xfrm>
          <a:prstGeom prst="rect">
            <a:avLst/>
          </a:prstGeom>
        </p:spPr>
      </p:pic>
      <p:pic>
        <p:nvPicPr>
          <p:cNvPr id="24" name="Image 12" descr=" 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15310" y="12098865"/>
            <a:ext cx="338701" cy="338671"/>
          </a:xfrm>
          <a:prstGeom prst="rect">
            <a:avLst/>
          </a:prstGeom>
        </p:spPr>
      </p:pic>
      <p:pic>
        <p:nvPicPr>
          <p:cNvPr id="25" name="Image 13" descr=" 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399979" y="12183529"/>
            <a:ext cx="169350" cy="169335"/>
          </a:xfrm>
          <a:prstGeom prst="rect">
            <a:avLst/>
          </a:prstGeom>
        </p:spPr>
      </p:pic>
      <p:sp>
        <p:nvSpPr>
          <p:cNvPr id="26" name="Text 10"/>
          <p:cNvSpPr/>
          <p:nvPr/>
        </p:nvSpPr>
        <p:spPr>
          <a:xfrm>
            <a:off x="8891111" y="12071350"/>
            <a:ext cx="302297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kern="0" spc="-24" dirty="0">
                <a:solidFill>
                  <a:srgbClr val="FFFFFF">
                    <a:alpha val="100000"/>
                  </a:srgbClr>
                </a:solidFill>
                <a:latin typeface="Satoshi Regular" pitchFamily="34" charset="0"/>
                <a:ea typeface="Satoshi Regular" pitchFamily="34" charset="-122"/>
                <a:cs typeface="Satoshi Regular" pitchFamily="34" charset="-120"/>
              </a:rPr>
              <a:t>Instagram.com/neuroz</a:t>
            </a:r>
            <a:endParaRPr lang="en-US" sz="2400" dirty="0"/>
          </a:p>
        </p:txBody>
      </p:sp>
      <p:pic>
        <p:nvPicPr>
          <p:cNvPr id="28" name="Image 15" descr=" 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087682" y="12098865"/>
            <a:ext cx="338713" cy="337821"/>
          </a:xfrm>
          <a:prstGeom prst="rect">
            <a:avLst/>
          </a:prstGeom>
        </p:spPr>
      </p:pic>
      <p:sp>
        <p:nvSpPr>
          <p:cNvPr id="29" name="Text 11"/>
          <p:cNvSpPr/>
          <p:nvPr/>
        </p:nvSpPr>
        <p:spPr>
          <a:xfrm>
            <a:off x="12663483" y="12071350"/>
            <a:ext cx="30102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kern="0" spc="-24" dirty="0">
                <a:solidFill>
                  <a:srgbClr val="FFFFFF">
                    <a:alpha val="100000"/>
                  </a:srgbClr>
                </a:solidFill>
                <a:latin typeface="Satoshi Regular" pitchFamily="34" charset="0"/>
                <a:ea typeface="Satoshi Regular" pitchFamily="34" charset="-122"/>
                <a:cs typeface="Satoshi Regular" pitchFamily="34" charset="-120"/>
              </a:rPr>
              <a:t>Facebook.com/neuroz</a:t>
            </a:r>
            <a:endParaRPr lang="en-US" sz="2400" dirty="0"/>
          </a:p>
        </p:txBody>
      </p:sp>
      <p:sp>
        <p:nvSpPr>
          <p:cNvPr id="30" name="Shape 12"/>
          <p:cNvSpPr/>
          <p:nvPr/>
        </p:nvSpPr>
        <p:spPr>
          <a:xfrm>
            <a:off x="19344518" y="11607800"/>
            <a:ext cx="3514110" cy="9017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D"/>
          </a:p>
        </p:txBody>
      </p:sp>
      <p:sp>
        <p:nvSpPr>
          <p:cNvPr id="31" name="Shape 13"/>
          <p:cNvSpPr/>
          <p:nvPr/>
        </p:nvSpPr>
        <p:spPr>
          <a:xfrm>
            <a:off x="19344518" y="12086878"/>
            <a:ext cx="225803" cy="225778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2" name="Shape 14"/>
          <p:cNvSpPr/>
          <p:nvPr/>
        </p:nvSpPr>
        <p:spPr>
          <a:xfrm>
            <a:off x="19796131" y="12086878"/>
            <a:ext cx="225803" cy="225778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3" name="Shape 15"/>
          <p:cNvSpPr/>
          <p:nvPr/>
        </p:nvSpPr>
        <p:spPr>
          <a:xfrm>
            <a:off x="20021944" y="11917539"/>
            <a:ext cx="169352" cy="169333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4" name="Shape 16"/>
          <p:cNvSpPr/>
          <p:nvPr/>
        </p:nvSpPr>
        <p:spPr>
          <a:xfrm>
            <a:off x="19542099" y="11804650"/>
            <a:ext cx="282254" cy="282222"/>
          </a:xfrm>
          <a:prstGeom prst="ellipse">
            <a:avLst/>
          </a:prstGeom>
          <a:solidFill>
            <a:srgbClr val="FFFFFF">
              <a:alpha val="100000"/>
            </a:srgbClr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5" name="Text 17"/>
          <p:cNvSpPr/>
          <p:nvPr/>
        </p:nvSpPr>
        <p:spPr>
          <a:xfrm>
            <a:off x="20407221" y="11607800"/>
            <a:ext cx="2688503" cy="1138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600" kern="0" spc="-112" dirty="0">
                <a:solidFill>
                  <a:srgbClr val="FFFFFF">
                    <a:alpha val="100000"/>
                  </a:srgbClr>
                </a:solidFill>
                <a:latin typeface="Plus Jakarta Sans Bold" pitchFamily="34" charset="0"/>
                <a:ea typeface="Plus Jakarta Sans Bold" pitchFamily="34" charset="-122"/>
                <a:cs typeface="Plus Jakarta Sans Bold" pitchFamily="34" charset="-120"/>
              </a:rPr>
              <a:t>NeuroZ</a:t>
            </a:r>
            <a:endParaRPr lang="en-US" sz="5600" dirty="0"/>
          </a:p>
        </p:txBody>
      </p:sp>
      <p:pic>
        <p:nvPicPr>
          <p:cNvPr id="36" name="Image 16" descr=" 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204725" y="8305800"/>
            <a:ext cx="12702" cy="2019300"/>
          </a:xfrm>
          <a:prstGeom prst="rect">
            <a:avLst/>
          </a:prstGeom>
        </p:spPr>
      </p:pic>
      <p:pic>
        <p:nvPicPr>
          <p:cNvPr id="37" name="Image 17" descr=" 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590199" y="8305800"/>
            <a:ext cx="12702" cy="2019300"/>
          </a:xfrm>
          <a:prstGeom prst="rect">
            <a:avLst/>
          </a:prstGeom>
        </p:spPr>
      </p:pic>
      <p:sp>
        <p:nvSpPr>
          <p:cNvPr id="39" name="Text 18"/>
          <p:cNvSpPr/>
          <p:nvPr/>
        </p:nvSpPr>
        <p:spPr>
          <a:xfrm>
            <a:off x="1524191" y="1447800"/>
            <a:ext cx="2015319" cy="414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Medium" pitchFamily="34" charset="0"/>
                <a:ea typeface="Plus Jakarta Sans Medium" pitchFamily="34" charset="-122"/>
                <a:cs typeface="Plus Jakarta Sans Medium" pitchFamily="34" charset="-120"/>
              </a:rPr>
              <a:t>Pitch Deck</a:t>
            </a:r>
            <a:r>
              <a:rPr lang="en-US" sz="2000" kern="0" spc="-40" dirty="0">
                <a:solidFill>
                  <a:srgbClr val="FFFFFF">
                    <a:alpha val="100000"/>
                  </a:srgbClr>
                </a:solidFill>
                <a:latin typeface="Plus Jakarta Sans Regular" pitchFamily="34" charset="0"/>
                <a:ea typeface="Plus Jakarta Sans Regular" pitchFamily="34" charset="-122"/>
                <a:cs typeface="Plus Jakarta Sans Regular" pitchFamily="34" charset="-120"/>
              </a:rPr>
              <a:t> 2025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2187</Words>
  <Application>Microsoft Macintosh PowerPoint</Application>
  <PresentationFormat>自定义</PresentationFormat>
  <Paragraphs>311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FangSong</vt:lpstr>
      <vt:lpstr>STZhongsong</vt:lpstr>
      <vt:lpstr>Archivo Bold</vt:lpstr>
      <vt:lpstr>Inter Bold</vt:lpstr>
      <vt:lpstr>Inter Medium</vt:lpstr>
      <vt:lpstr>Inter Regular</vt:lpstr>
      <vt:lpstr>Plus Jakarta Sans Bold</vt:lpstr>
      <vt:lpstr>Plus Jakarta Sans Medium</vt:lpstr>
      <vt:lpstr>Plus Jakarta Sans Regular</vt:lpstr>
      <vt:lpstr>Satoshi Regular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Leo Lai</cp:lastModifiedBy>
  <cp:revision>12</cp:revision>
  <dcterms:created xsi:type="dcterms:W3CDTF">2025-03-20T06:17:10Z</dcterms:created>
  <dcterms:modified xsi:type="dcterms:W3CDTF">2026-06-08T03:53:29Z</dcterms:modified>
</cp:coreProperties>
</file>
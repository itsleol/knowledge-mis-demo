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3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83" r:id="rId4"/>
    <p:sldId id="259" r:id="rId6"/>
    <p:sldId id="272" r:id="rId7"/>
  </p:sldIdLst>
  <p:sldSz cx="24387175" cy="13716000"/>
  <p:notesSz cx="13716000" cy="243871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58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3850" y="13220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3850" y="13220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3850" y="13220700"/>
            <a:ext cx="1009650" cy="304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3850" y="13220700"/>
            <a:ext cx="1009650" cy="304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20.xml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tags" Target="../tags/tag19.xml"/><Relationship Id="rId4" Type="http://schemas.openxmlformats.org/officeDocument/2006/relationships/image" Target="../media/image8.svg"/><Relationship Id="rId35" Type="http://schemas.openxmlformats.org/officeDocument/2006/relationships/notesSlide" Target="../notesSlides/notesSlide3.xml"/><Relationship Id="rId34" Type="http://schemas.openxmlformats.org/officeDocument/2006/relationships/slideLayout" Target="../slideLayouts/slideLayout1.xml"/><Relationship Id="rId33" Type="http://schemas.openxmlformats.org/officeDocument/2006/relationships/tags" Target="../tags/tag33.xml"/><Relationship Id="rId32" Type="http://schemas.openxmlformats.org/officeDocument/2006/relationships/image" Target="../media/image22.svg"/><Relationship Id="rId31" Type="http://schemas.openxmlformats.org/officeDocument/2006/relationships/image" Target="../media/image21.png"/><Relationship Id="rId30" Type="http://schemas.openxmlformats.org/officeDocument/2006/relationships/tags" Target="../tags/tag32.xml"/><Relationship Id="rId3" Type="http://schemas.openxmlformats.org/officeDocument/2006/relationships/image" Target="../media/image7.png"/><Relationship Id="rId29" Type="http://schemas.openxmlformats.org/officeDocument/2006/relationships/image" Target="../media/image20.svg"/><Relationship Id="rId28" Type="http://schemas.openxmlformats.org/officeDocument/2006/relationships/image" Target="../media/image19.png"/><Relationship Id="rId27" Type="http://schemas.openxmlformats.org/officeDocument/2006/relationships/tags" Target="../tags/tag31.xml"/><Relationship Id="rId26" Type="http://schemas.openxmlformats.org/officeDocument/2006/relationships/tags" Target="../tags/tag30.xml"/><Relationship Id="rId25" Type="http://schemas.openxmlformats.org/officeDocument/2006/relationships/tags" Target="../tags/tag29.xml"/><Relationship Id="rId24" Type="http://schemas.openxmlformats.org/officeDocument/2006/relationships/tags" Target="../tags/tag28.xml"/><Relationship Id="rId23" Type="http://schemas.openxmlformats.org/officeDocument/2006/relationships/tags" Target="../tags/tag27.xml"/><Relationship Id="rId22" Type="http://schemas.openxmlformats.org/officeDocument/2006/relationships/tags" Target="../tags/tag26.xml"/><Relationship Id="rId21" Type="http://schemas.openxmlformats.org/officeDocument/2006/relationships/tags" Target="../tags/tag25.xml"/><Relationship Id="rId20" Type="http://schemas.openxmlformats.org/officeDocument/2006/relationships/tags" Target="../tags/tag24.xml"/><Relationship Id="rId2" Type="http://schemas.openxmlformats.org/officeDocument/2006/relationships/tags" Target="../tags/tag18.xml"/><Relationship Id="rId19" Type="http://schemas.openxmlformats.org/officeDocument/2006/relationships/image" Target="../media/image18.svg"/><Relationship Id="rId18" Type="http://schemas.openxmlformats.org/officeDocument/2006/relationships/image" Target="../media/image17.png"/><Relationship Id="rId17" Type="http://schemas.openxmlformats.org/officeDocument/2006/relationships/tags" Target="../tags/tag23.xml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tags" Target="../tags/tag22.xml"/><Relationship Id="rId13" Type="http://schemas.openxmlformats.org/officeDocument/2006/relationships/image" Target="../media/image14.svg"/><Relationship Id="rId12" Type="http://schemas.openxmlformats.org/officeDocument/2006/relationships/image" Target="../media/image13.png"/><Relationship Id="rId11" Type="http://schemas.openxmlformats.org/officeDocument/2006/relationships/tags" Target="../tags/tag21.xml"/><Relationship Id="rId10" Type="http://schemas.openxmlformats.org/officeDocument/2006/relationships/image" Target="../media/image12.svg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3"/>
            <a:ext cx="24387175" cy="137160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2584773" y="-3721137"/>
            <a:ext cx="29546010" cy="17437140"/>
          </a:xfrm>
          <a:prstGeom prst="rect">
            <a:avLst/>
          </a:prstGeom>
          <a:noFill/>
        </p:spPr>
        <p:txBody>
          <a:bodyPr/>
          <a:lstStyle/>
          <a:p>
            <a:endParaRPr lang="en-ID"/>
          </a:p>
        </p:txBody>
      </p:sp>
      <p:sp>
        <p:nvSpPr>
          <p:cNvPr id="6" name="Shape 1"/>
          <p:cNvSpPr/>
          <p:nvPr/>
        </p:nvSpPr>
        <p:spPr>
          <a:xfrm>
            <a:off x="17502788" y="11787718"/>
            <a:ext cx="270967" cy="270933"/>
          </a:xfrm>
          <a:prstGeom prst="ellipse">
            <a:avLst/>
          </a:prstGeom>
          <a:solidFill>
            <a:srgbClr val="FFFFFF">
              <a:alpha val="5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7" name="Shape 2"/>
          <p:cNvSpPr/>
          <p:nvPr/>
        </p:nvSpPr>
        <p:spPr>
          <a:xfrm>
            <a:off x="18044723" y="11787718"/>
            <a:ext cx="270967" cy="270933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8" name="Shape 3"/>
          <p:cNvSpPr/>
          <p:nvPr/>
        </p:nvSpPr>
        <p:spPr>
          <a:xfrm>
            <a:off x="18315689" y="11584518"/>
            <a:ext cx="203225" cy="203200"/>
          </a:xfrm>
          <a:prstGeom prst="ellipse">
            <a:avLst/>
          </a:prstGeom>
          <a:solidFill>
            <a:srgbClr val="FFFFFF">
              <a:alpha val="5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9" name="Shape 4"/>
          <p:cNvSpPr/>
          <p:nvPr/>
        </p:nvSpPr>
        <p:spPr>
          <a:xfrm>
            <a:off x="17739885" y="11449050"/>
            <a:ext cx="338709" cy="3386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11" name="Text 6"/>
          <p:cNvSpPr/>
          <p:nvPr/>
        </p:nvSpPr>
        <p:spPr>
          <a:xfrm>
            <a:off x="1524191" y="1447800"/>
            <a:ext cx="11389090" cy="41740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algn="l">
              <a:lnSpc>
                <a:spcPts val="10000"/>
              </a:lnSpc>
              <a:buClrTx/>
              <a:buSzTx/>
              <a:buFontTx/>
              <a:buNone/>
            </a:pPr>
            <a:r>
              <a:rPr lang="zh-CN" altLang="en-US" sz="8600" b="1" kern="0" spc="-258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一个员工离职后，</a:t>
            </a:r>
            <a:endParaRPr lang="zh-CN" altLang="en-US" sz="8600" b="1" kern="0" spc="-258" dirty="0">
              <a:solidFill>
                <a:srgbClr val="FFFFFF">
                  <a:alpha val="100000"/>
                </a:srgbClr>
              </a:solidFill>
              <a:latin typeface="Archivo Bold" pitchFamily="34" charset="0"/>
              <a:ea typeface="Archivo Bold" pitchFamily="34" charset="-122"/>
              <a:cs typeface="Archivo Bold" pitchFamily="34" charset="-120"/>
            </a:endParaRPr>
          </a:p>
          <a:p>
            <a:pPr marL="0" algn="l">
              <a:lnSpc>
                <a:spcPts val="10000"/>
              </a:lnSpc>
              <a:buClrTx/>
              <a:buSzTx/>
              <a:buFontTx/>
              <a:buNone/>
            </a:pPr>
            <a:endParaRPr lang="zh-CN" altLang="en-US" sz="8600" b="1" kern="0" spc="-258" dirty="0">
              <a:solidFill>
                <a:srgbClr val="FFFFFF">
                  <a:alpha val="100000"/>
                </a:srgbClr>
              </a:solidFill>
              <a:latin typeface="Archivo Bold" pitchFamily="34" charset="0"/>
              <a:ea typeface="Archivo Bold" pitchFamily="34" charset="-122"/>
              <a:cs typeface="Archivo Bold" pitchFamily="34" charset="-12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524191" y="5562600"/>
            <a:ext cx="7062083" cy="711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3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0815" y="1584325"/>
            <a:ext cx="11285855" cy="1136840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665" y="2780030"/>
            <a:ext cx="10314305" cy="1435100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1298575" y="4684395"/>
            <a:ext cx="11079480" cy="1036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1" indent="0" algn="l" fontAlgn="auto">
              <a:lnSpc>
                <a:spcPct val="120000"/>
              </a:lnSpc>
              <a:buClr>
                <a:srgbClr val="FFFFFF"/>
              </a:buClr>
              <a:buFont typeface="Arial" panose="020B0604020202020204"/>
              <a:buNone/>
            </a:pPr>
            <a:r>
              <a:rPr lang="zh-CN" altLang="en-US" sz="40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我们的故事，从一次普通的项目交接</a:t>
            </a:r>
            <a:r>
              <a:rPr lang="zh-CN" altLang="en-US" sz="40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开始。</a:t>
            </a:r>
            <a:endParaRPr lang="zh-CN" altLang="en-US" sz="40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Inter"/>
              <a:sym typeface="Inter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292225" y="5760085"/>
            <a:ext cx="11212830" cy="2860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1" indent="0" algn="l" fontAlgn="auto">
              <a:lnSpc>
                <a:spcPct val="120000"/>
              </a:lnSpc>
              <a:buClr>
                <a:srgbClr val="FFFFFF"/>
              </a:buClr>
              <a:buFont typeface="Arial" panose="020B0604020202020204"/>
              <a:buNone/>
            </a:pPr>
            <a:r>
              <a:rPr lang="zh-CN" altLang="en-US" sz="3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老员工负责过多个项目，也处理过许多故障和客户问题。</a:t>
            </a:r>
            <a:endParaRPr lang="zh-CN" altLang="en-US" sz="3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Inter"/>
              <a:sym typeface="Inter"/>
            </a:endParaRPr>
          </a:p>
          <a:p>
            <a:pPr marL="342900" lvl="1" indent="0" algn="l" fontAlgn="auto">
              <a:lnSpc>
                <a:spcPct val="120000"/>
              </a:lnSpc>
              <a:buClr>
                <a:srgbClr val="FFFFFF"/>
              </a:buClr>
              <a:buFont typeface="Arial" panose="020B0604020202020204"/>
              <a:buNone/>
            </a:pPr>
            <a:r>
              <a:rPr lang="zh-CN" altLang="en-US" sz="3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但这些经验散落在</a:t>
            </a:r>
            <a:r>
              <a:rPr lang="zh-CN" altLang="en-US" sz="3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聊天记录、邮件附件、个人电脑和群文件</a:t>
            </a:r>
            <a:r>
              <a:rPr lang="zh-CN" altLang="en-US" sz="3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里。</a:t>
            </a:r>
            <a:endParaRPr lang="zh-CN" altLang="en-US" sz="3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Inter"/>
              <a:sym typeface="Inter"/>
            </a:endParaRPr>
          </a:p>
          <a:p>
            <a:pPr marL="342900" lvl="1" indent="0" algn="l" fontAlgn="auto">
              <a:lnSpc>
                <a:spcPct val="120000"/>
              </a:lnSpc>
              <a:buClr>
                <a:srgbClr val="FFFFFF"/>
              </a:buClr>
              <a:buFont typeface="Arial" panose="020B0604020202020204"/>
              <a:buNone/>
            </a:pPr>
            <a:r>
              <a:rPr lang="zh-CN" altLang="en-US" sz="3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新人接手后，只能一边翻资料，一边反复问人，很多问题又被重新解决了一遍。</a:t>
            </a:r>
            <a:endParaRPr lang="zh-CN" altLang="en-US" sz="3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Inter"/>
              <a:sym typeface="Inter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9715" y="10463530"/>
            <a:ext cx="13527405" cy="782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635" y="2776855"/>
            <a:ext cx="16516350" cy="1165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40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</a:rPr>
              <a:t>企业每天都在产生知识，但很多知识没有被沉淀、审核、复用和度量。</a:t>
            </a:r>
            <a:endParaRPr lang="en-US" sz="40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Inter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39190" y="644525"/>
            <a:ext cx="20772120" cy="15195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algn="l">
              <a:lnSpc>
                <a:spcPts val="10000"/>
              </a:lnSpc>
              <a:buClrTx/>
              <a:buSzTx/>
              <a:buFontTx/>
              <a:buNone/>
            </a:pPr>
            <a:r>
              <a:rPr lang="zh-CN" altLang="en-US" sz="6600" b="1" kern="0" spc="-258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从个人经验到组织资产：为什么企业需要知识管理</a:t>
            </a:r>
            <a:r>
              <a:rPr lang="en-US" altLang="zh-CN" sz="6600" b="1" kern="0" spc="-258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MIS</a:t>
            </a:r>
            <a:r>
              <a:rPr lang="zh-CN" altLang="en-US" sz="6600" b="1" kern="0" spc="-258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？</a:t>
            </a:r>
            <a:endParaRPr lang="zh-CN" altLang="en-US" sz="6600" b="1" kern="0" spc="-258" dirty="0">
              <a:solidFill>
                <a:srgbClr val="FFFFFF">
                  <a:alpha val="100000"/>
                </a:srgbClr>
              </a:solidFill>
              <a:latin typeface="Archivo Bold" pitchFamily="34" charset="0"/>
              <a:ea typeface="Archivo Bold" pitchFamily="34" charset="-122"/>
              <a:cs typeface="Archivo Bold" pitchFamily="34" charset="-120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22354794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2" name="Shape 14"/>
          <p:cNvSpPr/>
          <p:nvPr/>
        </p:nvSpPr>
        <p:spPr>
          <a:xfrm>
            <a:off x="22625763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3" name="Shape 15"/>
          <p:cNvSpPr/>
          <p:nvPr/>
        </p:nvSpPr>
        <p:spPr>
          <a:xfrm>
            <a:off x="22761245" y="1528232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4" name="Shape 16"/>
          <p:cNvSpPr/>
          <p:nvPr/>
        </p:nvSpPr>
        <p:spPr>
          <a:xfrm>
            <a:off x="22473344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6" name="Shape 17"/>
          <p:cNvSpPr/>
          <p:nvPr/>
        </p:nvSpPr>
        <p:spPr>
          <a:xfrm>
            <a:off x="14263883" y="3296952"/>
            <a:ext cx="8344943" cy="8343900"/>
          </a:xfrm>
          <a:prstGeom prst="ellipse">
            <a:avLst/>
          </a:prstGeom>
          <a:solidFill>
            <a:srgbClr val="D9D9D9">
              <a:alpha val="1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7" name="Shape 18"/>
          <p:cNvSpPr/>
          <p:nvPr/>
        </p:nvSpPr>
        <p:spPr>
          <a:xfrm>
            <a:off x="13734871" y="2788952"/>
            <a:ext cx="9272159" cy="9271000"/>
          </a:xfrm>
          <a:prstGeom prst="ellipse">
            <a:avLst/>
          </a:prstGeom>
          <a:solidFill>
            <a:srgbClr val="D9D9D9">
              <a:alpha val="1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48" name="Shape 19"/>
          <p:cNvSpPr/>
          <p:nvPr/>
        </p:nvSpPr>
        <p:spPr>
          <a:xfrm>
            <a:off x="20098960" y="9652000"/>
            <a:ext cx="762095" cy="762000"/>
          </a:xfrm>
          <a:prstGeom prst="rect">
            <a:avLst/>
          </a:prstGeom>
          <a:noFill/>
        </p:spPr>
        <p:txBody>
          <a:bodyPr/>
          <a:lstStyle/>
          <a:p>
            <a:endParaRPr lang="en-ID"/>
          </a:p>
        </p:txBody>
      </p:sp>
      <p:sp>
        <p:nvSpPr>
          <p:cNvPr id="50" name="Shape 20"/>
          <p:cNvSpPr/>
          <p:nvPr/>
        </p:nvSpPr>
        <p:spPr>
          <a:xfrm>
            <a:off x="21203998" y="6032500"/>
            <a:ext cx="762095" cy="762000"/>
          </a:xfrm>
          <a:prstGeom prst="rect">
            <a:avLst/>
          </a:prstGeom>
          <a:noFill/>
        </p:spPr>
        <p:txBody>
          <a:bodyPr/>
          <a:lstStyle/>
          <a:p>
            <a:endParaRPr lang="en-ID"/>
          </a:p>
        </p:txBody>
      </p:sp>
      <p:sp>
        <p:nvSpPr>
          <p:cNvPr id="52" name="Shape 21"/>
          <p:cNvSpPr/>
          <p:nvPr/>
        </p:nvSpPr>
        <p:spPr>
          <a:xfrm>
            <a:off x="18079407" y="3911600"/>
            <a:ext cx="762095" cy="762000"/>
          </a:xfrm>
          <a:prstGeom prst="rect">
            <a:avLst/>
          </a:prstGeom>
          <a:noFill/>
        </p:spPr>
        <p:txBody>
          <a:bodyPr/>
          <a:lstStyle/>
          <a:p>
            <a:endParaRPr lang="en-ID"/>
          </a:p>
        </p:txBody>
      </p:sp>
      <p:sp>
        <p:nvSpPr>
          <p:cNvPr id="54" name="Shape 22"/>
          <p:cNvSpPr/>
          <p:nvPr/>
        </p:nvSpPr>
        <p:spPr>
          <a:xfrm>
            <a:off x="15094534" y="6032500"/>
            <a:ext cx="762095" cy="762000"/>
          </a:xfrm>
          <a:prstGeom prst="rect">
            <a:avLst/>
          </a:prstGeom>
          <a:noFill/>
        </p:spPr>
        <p:txBody>
          <a:bodyPr/>
          <a:lstStyle/>
          <a:p>
            <a:endParaRPr lang="en-ID"/>
          </a:p>
        </p:txBody>
      </p:sp>
      <p:sp>
        <p:nvSpPr>
          <p:cNvPr id="56" name="Shape 23"/>
          <p:cNvSpPr/>
          <p:nvPr/>
        </p:nvSpPr>
        <p:spPr>
          <a:xfrm>
            <a:off x="16009049" y="9652000"/>
            <a:ext cx="762095" cy="762000"/>
          </a:xfrm>
          <a:prstGeom prst="rect">
            <a:avLst/>
          </a:prstGeom>
          <a:noFill/>
        </p:spPr>
        <p:txBody>
          <a:bodyPr/>
          <a:lstStyle/>
          <a:p>
            <a:endParaRPr lang="en-ID"/>
          </a:p>
        </p:txBody>
      </p:sp>
      <p:sp>
        <p:nvSpPr>
          <p:cNvPr id="25" name="矩形 24"/>
          <p:cNvSpPr/>
          <p:nvPr>
            <p:custDataLst>
              <p:tags r:id="rId1"/>
            </p:custDataLst>
          </p:nvPr>
        </p:nvSpPr>
        <p:spPr>
          <a:xfrm>
            <a:off x="17569180" y="8236585"/>
            <a:ext cx="4357370" cy="103251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66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价值</a:t>
            </a:r>
            <a:r>
              <a:rPr lang="zh-CN" altLang="en-US" sz="66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看不见</a:t>
            </a:r>
            <a:endParaRPr lang="zh-CN" altLang="en-US" sz="6600" b="1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ea"/>
            </a:endParaRPr>
          </a:p>
        </p:txBody>
      </p:sp>
      <p:sp>
        <p:nvSpPr>
          <p:cNvPr id="58" name="矩形 57"/>
          <p:cNvSpPr/>
          <p:nvPr>
            <p:custDataLst>
              <p:tags r:id="rId2"/>
            </p:custDataLst>
          </p:nvPr>
        </p:nvSpPr>
        <p:spPr>
          <a:xfrm>
            <a:off x="3307874" y="8209613"/>
            <a:ext cx="3374240" cy="103259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6600" b="1">
                <a:solidFill>
                  <a:srgbClr val="5780CA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知识</a:t>
            </a:r>
            <a:r>
              <a:rPr lang="zh-CN" altLang="en-US" sz="6600" b="1">
                <a:solidFill>
                  <a:srgbClr val="5780CA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分散</a:t>
            </a:r>
            <a:endParaRPr lang="zh-CN" altLang="en-US" sz="6600" b="1">
              <a:solidFill>
                <a:srgbClr val="5780CA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ea"/>
            </a:endParaRPr>
          </a:p>
        </p:txBody>
      </p:sp>
      <p:sp>
        <p:nvSpPr>
          <p:cNvPr id="60" name="矩形 59"/>
          <p:cNvSpPr/>
          <p:nvPr>
            <p:custDataLst>
              <p:tags r:id="rId3"/>
            </p:custDataLst>
          </p:nvPr>
        </p:nvSpPr>
        <p:spPr>
          <a:xfrm>
            <a:off x="5434330" y="5511165"/>
            <a:ext cx="4888865" cy="103251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66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质量</a:t>
            </a:r>
            <a:r>
              <a:rPr lang="zh-CN" altLang="en-US" sz="66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不可控</a:t>
            </a:r>
            <a:endParaRPr lang="zh-CN" altLang="en-US" sz="6600" b="1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ea"/>
            </a:endParaRPr>
          </a:p>
        </p:txBody>
      </p:sp>
      <p:cxnSp>
        <p:nvCxnSpPr>
          <p:cNvPr id="61" name="肘形连接符 60"/>
          <p:cNvCxnSpPr/>
          <p:nvPr>
            <p:custDataLst>
              <p:tags r:id="rId4"/>
            </p:custDataLst>
          </p:nvPr>
        </p:nvCxnSpPr>
        <p:spPr>
          <a:xfrm rot="16200000">
            <a:off x="15356367" y="10231085"/>
            <a:ext cx="2731527" cy="746680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椭圆 61"/>
          <p:cNvSpPr>
            <a:spLocks noChangeAspect="1"/>
          </p:cNvSpPr>
          <p:nvPr>
            <p:custDataLst>
              <p:tags r:id="rId5"/>
            </p:custDataLst>
          </p:nvPr>
        </p:nvSpPr>
        <p:spPr>
          <a:xfrm flipH="1">
            <a:off x="17095470" y="9171318"/>
            <a:ext cx="132323" cy="133505"/>
          </a:xfrm>
          <a:prstGeom prst="ellipse">
            <a:avLst/>
          </a:prstGeom>
          <a:solidFill>
            <a:schemeClr val="accent2"/>
          </a:solidFill>
          <a:ln w="53975">
            <a:solidFill>
              <a:schemeClr val="accent2">
                <a:alpha val="44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cxnSp>
        <p:nvCxnSpPr>
          <p:cNvPr id="63" name="肘形连接符 62"/>
          <p:cNvCxnSpPr/>
          <p:nvPr>
            <p:custDataLst>
              <p:tags r:id="rId6"/>
            </p:custDataLst>
          </p:nvPr>
        </p:nvCxnSpPr>
        <p:spPr>
          <a:xfrm>
            <a:off x="7122797" y="9238661"/>
            <a:ext cx="855374" cy="2517684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椭圆 63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6989292" y="9171318"/>
            <a:ext cx="133505" cy="133505"/>
          </a:xfrm>
          <a:prstGeom prst="ellipse">
            <a:avLst/>
          </a:prstGeom>
          <a:solidFill>
            <a:schemeClr val="accent1"/>
          </a:solidFill>
          <a:ln w="53975">
            <a:solidFill>
              <a:schemeClr val="accent1">
                <a:alpha val="44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cxnSp>
        <p:nvCxnSpPr>
          <p:cNvPr id="65" name="肘形连接符 64"/>
          <p:cNvCxnSpPr/>
          <p:nvPr>
            <p:custDataLst>
              <p:tags r:id="rId8"/>
            </p:custDataLst>
          </p:nvPr>
        </p:nvCxnSpPr>
        <p:spPr>
          <a:xfrm>
            <a:off x="10596278" y="6523674"/>
            <a:ext cx="568281" cy="2976089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肘形连接符 65"/>
          <p:cNvCxnSpPr/>
          <p:nvPr>
            <p:custDataLst>
              <p:tags r:id="rId9"/>
            </p:custDataLst>
          </p:nvPr>
        </p:nvCxnSpPr>
        <p:spPr>
          <a:xfrm rot="16200000">
            <a:off x="11860437" y="7729941"/>
            <a:ext cx="3197021" cy="648620"/>
          </a:xfrm>
          <a:prstGeom prst="bentConnector3">
            <a:avLst>
              <a:gd name="adj1" fmla="val 98355"/>
            </a:avLst>
          </a:prstGeom>
          <a:ln w="12700">
            <a:solidFill>
              <a:schemeClr val="tx1">
                <a:lumMod val="50000"/>
                <a:lumOff val="50000"/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任意多边形 66"/>
          <p:cNvSpPr/>
          <p:nvPr>
            <p:custDataLst>
              <p:tags r:id="rId10"/>
            </p:custDataLst>
          </p:nvPr>
        </p:nvSpPr>
        <p:spPr>
          <a:xfrm>
            <a:off x="7037732" y="10129479"/>
            <a:ext cx="3853911" cy="3217106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974" h="3317">
                <a:moveTo>
                  <a:pt x="1415" y="0"/>
                </a:moveTo>
                <a:lnTo>
                  <a:pt x="3974" y="2560"/>
                </a:lnTo>
                <a:lnTo>
                  <a:pt x="3968" y="2567"/>
                </a:lnTo>
                <a:cubicBezTo>
                  <a:pt x="3800" y="2777"/>
                  <a:pt x="3682" y="3028"/>
                  <a:pt x="3632" y="3303"/>
                </a:cubicBezTo>
                <a:lnTo>
                  <a:pt x="3630" y="3317"/>
                </a:lnTo>
                <a:lnTo>
                  <a:pt x="0" y="3317"/>
                </a:lnTo>
                <a:lnTo>
                  <a:pt x="3" y="3256"/>
                </a:lnTo>
                <a:cubicBezTo>
                  <a:pt x="82" y="2013"/>
                  <a:pt x="593" y="887"/>
                  <a:pt x="1388" y="28"/>
                </a:cubicBezTo>
                <a:lnTo>
                  <a:pt x="1415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1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en-US" sz="2800" dirty="0">
              <a:solidFill>
                <a:schemeClr val="tx1"/>
              </a:solidFill>
              <a:latin typeface="+mj-lt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8" name="任意多边形 67"/>
          <p:cNvSpPr/>
          <p:nvPr>
            <p:custDataLst>
              <p:tags r:id="rId11"/>
            </p:custDataLst>
          </p:nvPr>
        </p:nvSpPr>
        <p:spPr>
          <a:xfrm>
            <a:off x="12269221" y="8522698"/>
            <a:ext cx="3332889" cy="385391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436" h="3973">
                <a:moveTo>
                  <a:pt x="0" y="0"/>
                </a:moveTo>
                <a:lnTo>
                  <a:pt x="45" y="1"/>
                </a:lnTo>
                <a:cubicBezTo>
                  <a:pt x="1352" y="49"/>
                  <a:pt x="2536" y="574"/>
                  <a:pt x="3430" y="1407"/>
                </a:cubicBezTo>
                <a:lnTo>
                  <a:pt x="3436" y="1413"/>
                </a:lnTo>
                <a:lnTo>
                  <a:pt x="876" y="3973"/>
                </a:lnTo>
                <a:lnTo>
                  <a:pt x="874" y="3972"/>
                </a:lnTo>
                <a:cubicBezTo>
                  <a:pt x="639" y="3783"/>
                  <a:pt x="351" y="3658"/>
                  <a:pt x="36" y="3622"/>
                </a:cubicBezTo>
                <a:lnTo>
                  <a:pt x="0" y="36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1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en-US" sz="2800" dirty="0">
              <a:solidFill>
                <a:schemeClr val="tx1"/>
              </a:solidFill>
              <a:latin typeface="+mj-lt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9" name="任意多边形 68"/>
          <p:cNvSpPr/>
          <p:nvPr>
            <p:custDataLst>
              <p:tags r:id="rId12"/>
            </p:custDataLst>
          </p:nvPr>
        </p:nvSpPr>
        <p:spPr>
          <a:xfrm>
            <a:off x="8614976" y="8522698"/>
            <a:ext cx="3363607" cy="388108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468" h="4001">
                <a:moveTo>
                  <a:pt x="3468" y="0"/>
                </a:moveTo>
                <a:lnTo>
                  <a:pt x="3468" y="3619"/>
                </a:lnTo>
                <a:lnTo>
                  <a:pt x="3432" y="3622"/>
                </a:lnTo>
                <a:cubicBezTo>
                  <a:pt x="3102" y="3660"/>
                  <a:pt x="2802" y="3795"/>
                  <a:pt x="2561" y="3998"/>
                </a:cubicBezTo>
                <a:lnTo>
                  <a:pt x="2558" y="4001"/>
                </a:lnTo>
                <a:lnTo>
                  <a:pt x="0" y="1443"/>
                </a:lnTo>
                <a:lnTo>
                  <a:pt x="18" y="1426"/>
                </a:lnTo>
                <a:cubicBezTo>
                  <a:pt x="914" y="582"/>
                  <a:pt x="2106" y="49"/>
                  <a:pt x="3423" y="1"/>
                </a:cubicBezTo>
                <a:lnTo>
                  <a:pt x="3468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80000"/>
                  <a:lumOff val="2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70" name="任意多边形 69"/>
          <p:cNvSpPr/>
          <p:nvPr>
            <p:custDataLst>
              <p:tags r:id="rId13"/>
            </p:custDataLst>
          </p:nvPr>
        </p:nvSpPr>
        <p:spPr>
          <a:xfrm>
            <a:off x="13328987" y="10098761"/>
            <a:ext cx="3881084" cy="324782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4002" h="3348">
                <a:moveTo>
                  <a:pt x="2558" y="0"/>
                </a:moveTo>
                <a:lnTo>
                  <a:pt x="2589" y="33"/>
                </a:lnTo>
                <a:cubicBezTo>
                  <a:pt x="3398" y="896"/>
                  <a:pt x="3919" y="2032"/>
                  <a:pt x="3999" y="3287"/>
                </a:cubicBezTo>
                <a:lnTo>
                  <a:pt x="4002" y="3348"/>
                </a:lnTo>
                <a:lnTo>
                  <a:pt x="372" y="3348"/>
                </a:lnTo>
                <a:lnTo>
                  <a:pt x="370" y="3335"/>
                </a:lnTo>
                <a:cubicBezTo>
                  <a:pt x="318" y="3048"/>
                  <a:pt x="193" y="2787"/>
                  <a:pt x="13" y="2573"/>
                </a:cubicBezTo>
                <a:lnTo>
                  <a:pt x="0" y="2558"/>
                </a:lnTo>
                <a:lnTo>
                  <a:pt x="2558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80000"/>
                  <a:lumOff val="2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71" name="椭圆 70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0462774" y="6456331"/>
            <a:ext cx="133505" cy="133505"/>
          </a:xfrm>
          <a:prstGeom prst="ellipse">
            <a:avLst/>
          </a:prstGeom>
          <a:solidFill>
            <a:schemeClr val="accent2"/>
          </a:solidFill>
          <a:ln w="53975">
            <a:solidFill>
              <a:schemeClr val="accent2">
                <a:alpha val="44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2" name="椭圆 71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 flipH="1">
            <a:off x="13717686" y="6456331"/>
            <a:ext cx="133505" cy="133505"/>
          </a:xfrm>
          <a:prstGeom prst="ellipse">
            <a:avLst/>
          </a:prstGeom>
          <a:solidFill>
            <a:schemeClr val="accent1"/>
          </a:solidFill>
          <a:ln w="53975">
            <a:solidFill>
              <a:schemeClr val="accent1">
                <a:alpha val="44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3" name="矩形 72"/>
          <p:cNvSpPr/>
          <p:nvPr>
            <p:custDataLst>
              <p:tags r:id="rId16"/>
            </p:custDataLst>
          </p:nvPr>
        </p:nvSpPr>
        <p:spPr>
          <a:xfrm>
            <a:off x="14317345" y="4721860"/>
            <a:ext cx="5000625" cy="184023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6600" b="1">
                <a:solidFill>
                  <a:srgbClr val="6087CD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复用</a:t>
            </a:r>
            <a:r>
              <a:rPr lang="zh-CN" altLang="en-US" sz="6600" b="1">
                <a:solidFill>
                  <a:srgbClr val="6087CD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困难</a:t>
            </a:r>
            <a:endParaRPr lang="zh-CN" altLang="en-US" sz="6600" b="1">
              <a:solidFill>
                <a:srgbClr val="6087CD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ea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553845" y="9499600"/>
            <a:ext cx="5128260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32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知识散落在聊天、邮件、群文件和个人电脑中，查找成本高。</a:t>
            </a:r>
            <a:endParaRPr lang="zh-CN" altLang="en-US" sz="320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Inter"/>
              <a:sym typeface="Inter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758190" y="5253355"/>
            <a:ext cx="5128260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32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缺少统一审核机制，知识是否准确、过期、可复用难以判断。</a:t>
            </a:r>
            <a:endParaRPr lang="zh-CN" altLang="en-US" sz="32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8201640" y="5089525"/>
            <a:ext cx="5128260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32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历史经验没有结构化沉淀，同类问题反复摸索，造成重复劳动。</a:t>
            </a:r>
            <a:endParaRPr lang="zh-CN" altLang="en-US" sz="32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17842230" y="9499600"/>
            <a:ext cx="512826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32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管理者难以看到知识使用频率、部门贡献和热门主题。</a:t>
            </a:r>
            <a:endParaRPr lang="zh-CN" altLang="en-US" sz="32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524000" y="730250"/>
            <a:ext cx="21300440" cy="49676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zh-CN" altLang="en-US" sz="8000" b="1" kern="0" spc="-258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市场现状：工具很多，但知识</a:t>
            </a:r>
            <a:r>
              <a:rPr lang="zh-CN" altLang="en-US" sz="8000" b="1" kern="0" spc="-258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治理体系并不完整</a:t>
            </a:r>
            <a:endParaRPr lang="zh-CN" altLang="en-US" sz="8000" b="1" kern="0" spc="-258" dirty="0">
              <a:solidFill>
                <a:srgbClr val="FFFFFF">
                  <a:alpha val="100000"/>
                </a:srgbClr>
              </a:solidFill>
              <a:latin typeface="Archivo Bold" pitchFamily="34" charset="0"/>
              <a:ea typeface="Archivo Bold" pitchFamily="34" charset="-122"/>
              <a:cs typeface="Archivo Bold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2354794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8" name="Shape 5"/>
          <p:cNvSpPr/>
          <p:nvPr/>
        </p:nvSpPr>
        <p:spPr>
          <a:xfrm>
            <a:off x="22625757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9" name="Shape 6"/>
          <p:cNvSpPr/>
          <p:nvPr/>
        </p:nvSpPr>
        <p:spPr>
          <a:xfrm>
            <a:off x="22761245" y="1528233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10" name="Shape 7"/>
          <p:cNvSpPr/>
          <p:nvPr/>
        </p:nvSpPr>
        <p:spPr>
          <a:xfrm>
            <a:off x="22473338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2058035" y="4077335"/>
            <a:ext cx="11416665" cy="9061450"/>
            <a:chOff x="20953" y="4390"/>
            <a:chExt cx="15062" cy="15060"/>
          </a:xfrm>
        </p:grpSpPr>
        <p:pic>
          <p:nvPicPr>
            <p:cNvPr id="12" name="Image 2" descr=" 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003" y="4440"/>
              <a:ext cx="7081" cy="7080"/>
            </a:xfrm>
            <a:prstGeom prst="rect">
              <a:avLst/>
            </a:prstGeom>
          </p:spPr>
        </p:pic>
        <p:pic>
          <p:nvPicPr>
            <p:cNvPr id="13" name="Image 3" descr=" 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8884" y="4440"/>
              <a:ext cx="7081" cy="7080"/>
            </a:xfrm>
            <a:prstGeom prst="rect">
              <a:avLst/>
            </a:prstGeom>
          </p:spPr>
        </p:pic>
        <p:pic>
          <p:nvPicPr>
            <p:cNvPr id="14" name="Image 4" descr=" 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1003" y="12320"/>
              <a:ext cx="7081" cy="7080"/>
            </a:xfrm>
            <a:prstGeom prst="rect">
              <a:avLst/>
            </a:prstGeom>
          </p:spPr>
        </p:pic>
        <p:pic>
          <p:nvPicPr>
            <p:cNvPr id="15" name="Image 5" descr=" 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8884" y="12320"/>
              <a:ext cx="7081" cy="7080"/>
            </a:xfrm>
            <a:prstGeom prst="rect">
              <a:avLst/>
            </a:prstGeom>
          </p:spPr>
        </p:pic>
        <p:pic>
          <p:nvPicPr>
            <p:cNvPr id="20" name="Image 6" descr=" 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8474" y="4390"/>
              <a:ext cx="20" cy="15060"/>
            </a:xfrm>
            <a:prstGeom prst="rect">
              <a:avLst/>
            </a:prstGeom>
          </p:spPr>
        </p:pic>
        <p:pic>
          <p:nvPicPr>
            <p:cNvPr id="21" name="Image 7" descr=" 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0953" y="11910"/>
              <a:ext cx="15062" cy="20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/>
        </p:nvSpPr>
        <p:spPr>
          <a:xfrm>
            <a:off x="1524635" y="2252345"/>
            <a:ext cx="2112899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0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</a:rPr>
              <a:t>协同办公、在线文档、网盘和人工台账都能解决一部分问题，但很少完整覆盖知识从产生、审核、复用到统计的管理闭环。</a:t>
            </a:r>
            <a:endParaRPr lang="en-US" sz="40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Inter"/>
            </a:endParaRPr>
          </a:p>
        </p:txBody>
      </p:sp>
      <p:sp>
        <p:nvSpPr>
          <p:cNvPr id="56" name="文本框 55"/>
          <p:cNvSpPr txBox="1"/>
          <p:nvPr>
            <p:custDataLst>
              <p:tags r:id="rId20"/>
            </p:custDataLst>
          </p:nvPr>
        </p:nvSpPr>
        <p:spPr>
          <a:xfrm>
            <a:off x="2288540" y="5079365"/>
            <a:ext cx="5092700" cy="3716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代表：飞书、钉钉、企业微信</a:t>
            </a:r>
            <a:endParaRPr lang="zh-CN" altLang="en-US" sz="28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优势：沟通、文档、会议、审批能力强</a:t>
            </a:r>
            <a:endParaRPr lang="zh-CN" altLang="en-US" sz="28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局限：功能大而全，部门级知识治理不是唯一重点</a:t>
            </a:r>
            <a:endParaRPr lang="zh-CN" altLang="en-US" sz="28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1"/>
            </p:custDataLst>
          </p:nvPr>
        </p:nvSpPr>
        <p:spPr>
          <a:xfrm>
            <a:off x="8112125" y="5078095"/>
            <a:ext cx="4911090" cy="3803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代表：飞书知识库、钉钉知识库、语雀</a:t>
            </a:r>
            <a:endParaRPr lang="zh-CN" altLang="en-US" sz="28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优势：文档沉淀、协同编辑、权限管理方便</a:t>
            </a:r>
            <a:endParaRPr lang="zh-CN" altLang="en-US" sz="28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局限：更偏内容承载，审核、反馈、统计闭环不一定突出</a:t>
            </a:r>
            <a:endParaRPr lang="zh-CN" altLang="en-US" sz="28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2"/>
            </p:custDataLst>
          </p:nvPr>
        </p:nvSpPr>
        <p:spPr>
          <a:xfrm>
            <a:off x="2218690" y="9598660"/>
            <a:ext cx="4965700" cy="3687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代表：企业网盘、钉盘、微盘</a:t>
            </a:r>
            <a:endParaRPr lang="zh-CN" altLang="en-US" sz="28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优势：文件存储和共享方便</a:t>
            </a:r>
            <a:endParaRPr lang="zh-CN" altLang="en-US" sz="28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局限：能存资料，但难以判断资料质量、版本状态和复用价值</a:t>
            </a:r>
            <a:endParaRPr lang="zh-CN" altLang="en-US" sz="28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3"/>
            </p:custDataLst>
          </p:nvPr>
        </p:nvSpPr>
        <p:spPr>
          <a:xfrm>
            <a:off x="8118475" y="9660255"/>
            <a:ext cx="5351145" cy="3763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代表：共享表格、微信群文件清单</a:t>
            </a:r>
            <a:endParaRPr lang="zh-CN" altLang="en-US" sz="28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优势：成本低，上手快</a:t>
            </a:r>
            <a:endParaRPr lang="zh-CN" altLang="en-US" sz="28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局限：检索弱、追踪难、统计难，长期维护成本高</a:t>
            </a:r>
            <a:endParaRPr lang="zh-CN" altLang="en-US" sz="28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矩形 28"/>
          <p:cNvSpPr/>
          <p:nvPr>
            <p:custDataLst>
              <p:tags r:id="rId24"/>
            </p:custDataLst>
          </p:nvPr>
        </p:nvSpPr>
        <p:spPr>
          <a:xfrm>
            <a:off x="2366645" y="4023995"/>
            <a:ext cx="5014595" cy="103251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4400" b="1">
                <a:solidFill>
                  <a:srgbClr val="5780CA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01</a:t>
            </a:r>
            <a:r>
              <a:rPr lang="zh-CN" altLang="en-US" sz="4400" b="1">
                <a:solidFill>
                  <a:srgbClr val="5780CA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综合协同平台</a:t>
            </a:r>
            <a:endParaRPr lang="zh-CN" altLang="en-US" sz="4400" b="1">
              <a:solidFill>
                <a:srgbClr val="5780CA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ea"/>
            </a:endParaRPr>
          </a:p>
        </p:txBody>
      </p:sp>
      <p:sp>
        <p:nvSpPr>
          <p:cNvPr id="32" name="矩形 31"/>
          <p:cNvSpPr/>
          <p:nvPr>
            <p:custDataLst>
              <p:tags r:id="rId25"/>
            </p:custDataLst>
          </p:nvPr>
        </p:nvSpPr>
        <p:spPr>
          <a:xfrm>
            <a:off x="8153400" y="4072255"/>
            <a:ext cx="5838190" cy="9779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02 在线文档/知识库</a:t>
            </a:r>
            <a:endParaRPr lang="en-US" altLang="zh-CN" sz="4400" b="1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ea"/>
            </a:endParaRPr>
          </a:p>
        </p:txBody>
      </p:sp>
      <p:sp>
        <p:nvSpPr>
          <p:cNvPr id="30" name="矩形 29"/>
          <p:cNvSpPr/>
          <p:nvPr>
            <p:custDataLst>
              <p:tags r:id="rId26"/>
            </p:custDataLst>
          </p:nvPr>
        </p:nvSpPr>
        <p:spPr>
          <a:xfrm>
            <a:off x="2268220" y="8571865"/>
            <a:ext cx="5014595" cy="103251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4400" b="1">
                <a:solidFill>
                  <a:srgbClr val="5780CA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03</a:t>
            </a:r>
            <a:r>
              <a:rPr lang="zh-CN" altLang="en-US" sz="4400" b="1">
                <a:solidFill>
                  <a:srgbClr val="5780CA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网盘/文件夹</a:t>
            </a:r>
            <a:endParaRPr lang="zh-CN" altLang="en-US" sz="4400" b="1">
              <a:solidFill>
                <a:srgbClr val="5780CA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ea"/>
            </a:endParaRPr>
          </a:p>
        </p:txBody>
      </p:sp>
      <p:sp>
        <p:nvSpPr>
          <p:cNvPr id="31" name="矩形 30"/>
          <p:cNvSpPr/>
          <p:nvPr>
            <p:custDataLst>
              <p:tags r:id="rId27"/>
            </p:custDataLst>
          </p:nvPr>
        </p:nvSpPr>
        <p:spPr>
          <a:xfrm>
            <a:off x="8168005" y="8651240"/>
            <a:ext cx="5838190" cy="9779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04 Excel/</a:t>
            </a:r>
            <a:r>
              <a:rPr lang="zh-CN" altLang="en-US" sz="4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人工台账</a:t>
            </a:r>
            <a:endParaRPr lang="zh-CN" altLang="en-US" sz="4400" b="1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ea"/>
            </a:endParaRPr>
          </a:p>
        </p:txBody>
      </p:sp>
      <p:sp>
        <p:nvSpPr>
          <p:cNvPr id="33" name="右箭头 32"/>
          <p:cNvSpPr/>
          <p:nvPr/>
        </p:nvSpPr>
        <p:spPr>
          <a:xfrm>
            <a:off x="14006195" y="8249920"/>
            <a:ext cx="1610360" cy="401320"/>
          </a:xfrm>
          <a:prstGeom prst="rightArrow">
            <a:avLst/>
          </a:prstGeom>
          <a:gradFill>
            <a:gsLst>
              <a:gs pos="32000">
                <a:srgbClr val="D1DCF0"/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5080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Image 6" descr=" 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2590145" y="2258695"/>
            <a:ext cx="14660880" cy="7307580"/>
          </a:xfrm>
          <a:prstGeom prst="rect">
            <a:avLst/>
          </a:prstGeom>
        </p:spPr>
      </p:pic>
      <p:sp>
        <p:nvSpPr>
          <p:cNvPr id="35" name="矩形 34"/>
          <p:cNvSpPr/>
          <p:nvPr>
            <p:custDataLst>
              <p:tags r:id="rId30"/>
            </p:custDataLst>
          </p:nvPr>
        </p:nvSpPr>
        <p:spPr>
          <a:xfrm>
            <a:off x="16058515" y="4056380"/>
            <a:ext cx="6189345" cy="24530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buClrTx/>
              <a:buSzTx/>
              <a:buFontTx/>
            </a:pPr>
            <a:r>
              <a:rPr lang="zh-CN" altLang="en-US" sz="4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现有工具并不是不好，</a:t>
            </a:r>
            <a:endParaRPr lang="zh-CN" altLang="en-US" sz="44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sz="4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而是各自解决了</a:t>
            </a:r>
            <a:r>
              <a:rPr lang="zh-CN" altLang="en-US" sz="4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局部问题</a:t>
            </a:r>
            <a:endParaRPr lang="zh-CN" altLang="en-US" sz="4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38" name="Image 7" descr=" 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3151485" y="4733290"/>
            <a:ext cx="13693140" cy="12283440"/>
          </a:xfrm>
          <a:prstGeom prst="rect">
            <a:avLst/>
          </a:prstGeom>
        </p:spPr>
      </p:pic>
      <p:sp>
        <p:nvSpPr>
          <p:cNvPr id="39" name="矩形 38"/>
          <p:cNvSpPr/>
          <p:nvPr>
            <p:custDataLst>
              <p:tags r:id="rId33"/>
            </p:custDataLst>
          </p:nvPr>
        </p:nvSpPr>
        <p:spPr>
          <a:xfrm>
            <a:off x="16536670" y="8908415"/>
            <a:ext cx="5838190" cy="360553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buClrTx/>
              <a:buSzTx/>
              <a:buFontTx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我们的机会在于做一个</a:t>
            </a:r>
            <a:r>
              <a:rPr lang="zh-CN" altLang="en-US" sz="5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轻量、聚焦、面向部门级知识闭环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 </a:t>
            </a: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MIS。</a:t>
            </a:r>
            <a:endParaRPr lang="en-US" altLang="zh-CN" sz="5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1093_3*l_h_a*1_4_1"/>
  <p:tag name="KSO_WM_TEMPLATE_CATEGORY" val="diagram"/>
  <p:tag name="KSO_WM_TEMPLATE_INDEX" val="2023109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093_3*l_h_a*1_1_1"/>
  <p:tag name="KSO_WM_TEMPLATE_CATEGORY" val="diagram"/>
  <p:tag name="KSO_WM_TEMPLATE_INDEX" val="2023109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093_3*l_h_a*1_2_1"/>
  <p:tag name="KSO_WM_TEMPLATE_CATEGORY" val="diagram"/>
  <p:tag name="KSO_WM_TEMPLATE_INDEX" val="2023109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4_2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4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DIAGRAM_USE_COLOR_VALUE" val="{&quot;color_scheme&quot;:1,&quot;color_type&quot;:1,&quot;theme_color_indexes&quot;:[5,6,5,6,5,6]}"/>
</p:tagLst>
</file>

<file path=ppt/tags/tag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4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4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solidLine&quot;:{&quot;brightness&quot;:0,&quot;colorType&quot;:1,&quot;foreColorIndex&quot;:6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UNIT_LINE_FORE_SCHEMECOLOR_INDEX" val="6"/>
  <p:tag name="KSO_WM_DIAGRAM_USE_COLOR_VALUE" val="{&quot;color_scheme&quot;:1,&quot;color_type&quot;:1,&quot;theme_color_indexes&quot;:[5,6,5,6,5,6]}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1_2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DIAGRAM_USE_COLOR_VALUE" val="{&quot;color_scheme&quot;:1,&quot;color_type&quot;:1,&quot;theme_color_indexes&quot;:[5,6,5,6,5,6]}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1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DIAGRAM_USE_COLOR_VALUE" val="{&quot;color_scheme&quot;:1,&quot;color_type&quot;:1,&quot;theme_color_indexes&quot;:[5,6,5,6,5,6]}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2_2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DIAGRAM_USE_COLOR_VALUE" val="{&quot;color_scheme&quot;:1,&quot;color_type&quot;:1,&quot;theme_color_indexes&quot;:[5,6,5,6,5,6]}"/>
</p:tagLst>
</file>

<file path=ppt/tags/tag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3_2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DIAGRAM_USE_COLOR_VALUE" val="{&quot;color_scheme&quot;:1,&quot;color_type&quot;:1,&quot;theme_color_indexes&quot;:[5,6,5,6,5,6]}"/>
</p:tagLst>
</file>

<file path=ppt/tags/tag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1_3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1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3_3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3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2_3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2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gradient&quot;:[{&quot;brightness&quot;:0.20000000298023224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4_3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4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gradient&quot;:[{&quot;brightness&quot;:0.20000000298023224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2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solidLine&quot;:{&quot;brightness&quot;:0,&quot;colorType&quot;:1,&quot;foreColorIndex&quot;:6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UNIT_LINE_FORE_SCHEMECOLOR_INDEX" val="6"/>
  <p:tag name="KSO_WM_DIAGRAM_USE_COLOR_VALUE" val="{&quot;color_scheme&quot;:1,&quot;color_type&quot;:1,&quot;theme_color_indexes&quot;:[5,6,5,6,5,6]}"/>
</p:tagLst>
</file>

<file path=ppt/tags/tag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3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DIAGRAM_USE_COLOR_VALUE" val="{&quot;color_scheme&quot;:1,&quot;color_type&quot;:1,&quot;theme_color_indexes&quot;:[5,6,5,6,5,6]}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093_3*l_h_a*1_3_1"/>
  <p:tag name="KSO_WM_TEMPLATE_CATEGORY" val="diagram"/>
  <p:tag name="KSO_WM_TEMPLATE_INDEX" val="2023109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7.xml><?xml version="1.0" encoding="utf-8"?>
<p:tagLst xmlns:p="http://schemas.openxmlformats.org/presentationml/2006/main">
  <p:tag name="KSO_WM_DIAGRAM_VIRTUALLY_FRAME" val="{&quot;height&quot;:740.15,&quot;left&quot;:162.05,&quot;top&quot;:316.85,&quot;width&quot;:1500.1749938964845}"/>
</p:tagLst>
</file>

<file path=ppt/tags/tag18.xml><?xml version="1.0" encoding="utf-8"?>
<p:tagLst xmlns:p="http://schemas.openxmlformats.org/presentationml/2006/main">
  <p:tag name="KSO_WM_DIAGRAM_VIRTUALLY_FRAME" val="{&quot;height&quot;:740.15,&quot;left&quot;:162.05,&quot;top&quot;:316.85,&quot;width&quot;:1500.1749938964845}"/>
</p:tagLst>
</file>

<file path=ppt/tags/tag19.xml><?xml version="1.0" encoding="utf-8"?>
<p:tagLst xmlns:p="http://schemas.openxmlformats.org/presentationml/2006/main">
  <p:tag name="KSO_WM_DIAGRAM_VIRTUALLY_FRAME" val="{&quot;height&quot;:740.15,&quot;left&quot;:162.05,&quot;top&quot;:316.85,&quot;width&quot;:1500.1749938964845}"/>
</p:tagLst>
</file>

<file path=ppt/tags/tag20.xml><?xml version="1.0" encoding="utf-8"?>
<p:tagLst xmlns:p="http://schemas.openxmlformats.org/presentationml/2006/main">
  <p:tag name="KSO_WM_DIAGRAM_VIRTUALLY_FRAME" val="{&quot;height&quot;:740.15,&quot;left&quot;:162.05,&quot;top&quot;:316.85,&quot;width&quot;:1500.1749938964845}"/>
</p:tagLst>
</file>

<file path=ppt/tags/tag21.xml><?xml version="1.0" encoding="utf-8"?>
<p:tagLst xmlns:p="http://schemas.openxmlformats.org/presentationml/2006/main">
  <p:tag name="KSO_WM_DIAGRAM_VIRTUALLY_FRAME" val="{&quot;height&quot;:740.15,&quot;left&quot;:162.05,&quot;top&quot;:316.85,&quot;width&quot;:1500.1749938964845}"/>
</p:tagLst>
</file>

<file path=ppt/tags/tag22.xml><?xml version="1.0" encoding="utf-8"?>
<p:tagLst xmlns:p="http://schemas.openxmlformats.org/presentationml/2006/main">
  <p:tag name="KSO_WM_DIAGRAM_VIRTUALLY_FRAME" val="{&quot;height&quot;:740.15,&quot;left&quot;:162.05,&quot;top&quot;:316.85,&quot;width&quot;:1500.1749938964845}"/>
</p:tagLst>
</file>

<file path=ppt/tags/tag23.xml><?xml version="1.0" encoding="utf-8"?>
<p:tagLst xmlns:p="http://schemas.openxmlformats.org/presentationml/2006/main">
  <p:tag name="KSO_WM_DIAGRAM_VIRTUALLY_FRAME" val="{&quot;height&quot;:740.15,&quot;left&quot;:162.05,&quot;top&quot;:316.85,&quot;width&quot;:1500.1749938964845}"/>
</p:tagLst>
</file>

<file path=ppt/tags/tag24.xml><?xml version="1.0" encoding="utf-8"?>
<p:tagLst xmlns:p="http://schemas.openxmlformats.org/presentationml/2006/main">
  <p:tag name="KSO_WM_DIAGRAM_VIRTUALLY_FRAME" val="{&quot;height&quot;:740.15,&quot;left&quot;:162.05,&quot;top&quot;:316.85,&quot;width&quot;:1500.1749938964845}"/>
</p:tagLst>
</file>

<file path=ppt/tags/tag25.xml><?xml version="1.0" encoding="utf-8"?>
<p:tagLst xmlns:p="http://schemas.openxmlformats.org/presentationml/2006/main">
  <p:tag name="KSO_WM_DIAGRAM_VIRTUALLY_FRAME" val="{&quot;height&quot;:740.15,&quot;left&quot;:162.05,&quot;top&quot;:316.85,&quot;width&quot;:1500.1749938964845}"/>
</p:tagLst>
</file>

<file path=ppt/tags/tag26.xml><?xml version="1.0" encoding="utf-8"?>
<p:tagLst xmlns:p="http://schemas.openxmlformats.org/presentationml/2006/main">
  <p:tag name="KSO_WM_DIAGRAM_VIRTUALLY_FRAME" val="{&quot;height&quot;:740.15,&quot;left&quot;:162.05,&quot;top&quot;:316.85,&quot;width&quot;:1500.1749938964845}"/>
</p:tagLst>
</file>

<file path=ppt/tags/tag27.xml><?xml version="1.0" encoding="utf-8"?>
<p:tagLst xmlns:p="http://schemas.openxmlformats.org/presentationml/2006/main">
  <p:tag name="KSO_WM_DIAGRAM_VIRTUALLY_FRAME" val="{&quot;height&quot;:740.15,&quot;left&quot;:162.05,&quot;top&quot;:316.85,&quot;width&quot;:1500.1749938964845}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093_3*l_h_a*1_1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740.15,&quot;left&quot;:162.05,&quot;top&quot;:316.85,&quot;width&quot;:1500.1749938964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093_3*l_h_a*1_2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740.15,&quot;left&quot;:162.05,&quot;top&quot;:316.85,&quot;width&quot;:1500.1749938964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093_3*l_h_a*1_1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740.15,&quot;left&quot;:162.05,&quot;top&quot;:316.85,&quot;width&quot;:1500.1749938964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093_3*l_h_a*1_2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740.15,&quot;left&quot;:162.05,&quot;top&quot;:316.85,&quot;width&quot;:1500.1749938964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093_3*l_h_a*1_2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740.15,&quot;left&quot;:162.05,&quot;top&quot;:316.85,&quot;width&quot;:1500.1749938964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093_3*l_h_a*1_2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740.15,&quot;left&quot;:162.05,&quot;top&quot;:316.85,&quot;width&quot;:1500.1749938964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</Words>
  <Application>WPS 演示</Application>
  <PresentationFormat>自定义</PresentationFormat>
  <Paragraphs>62</Paragraphs>
  <Slides>3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45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50" baseType="lpstr">
      <vt:lpstr>Arial</vt:lpstr>
      <vt:lpstr>宋体</vt:lpstr>
      <vt:lpstr>Wingdings</vt:lpstr>
      <vt:lpstr>Plus Jakarta Sans Bold</vt:lpstr>
      <vt:lpstr>Segoe Print</vt:lpstr>
      <vt:lpstr>Plus Jakarta Sans Bold</vt:lpstr>
      <vt:lpstr>Plus Jakarta Sans Bold</vt:lpstr>
      <vt:lpstr>Archivo Bold</vt:lpstr>
      <vt:lpstr>Archivo Bold</vt:lpstr>
      <vt:lpstr>Archivo Bold</vt:lpstr>
      <vt:lpstr>Inter Regular</vt:lpstr>
      <vt:lpstr>Inter Regular</vt:lpstr>
      <vt:lpstr>Inter Regular</vt:lpstr>
      <vt:lpstr>Inter Semi Bold</vt:lpstr>
      <vt:lpstr>Inter Semi Bold</vt:lpstr>
      <vt:lpstr>Inter Bold</vt:lpstr>
      <vt:lpstr>Inter Bold</vt:lpstr>
      <vt:lpstr>Inter Bold</vt:lpstr>
      <vt:lpstr>Plus Jakarta Sans Medium</vt:lpstr>
      <vt:lpstr>Plus Jakarta Sans Medium</vt:lpstr>
      <vt:lpstr>Plus Jakarta Sans Medium</vt:lpstr>
      <vt:lpstr>Plus Jakarta Sans Regular</vt:lpstr>
      <vt:lpstr>Plus Jakarta Sans Regular</vt:lpstr>
      <vt:lpstr>Plus Jakarta Sans Regular</vt:lpstr>
      <vt:lpstr>Inter Medium</vt:lpstr>
      <vt:lpstr>Inter Medium</vt:lpstr>
      <vt:lpstr>Inter Medium</vt:lpstr>
      <vt:lpstr>Calibri</vt:lpstr>
      <vt:lpstr>微软雅黑</vt:lpstr>
      <vt:lpstr>Arial Unicode MS</vt:lpstr>
      <vt:lpstr>等线</vt:lpstr>
      <vt:lpstr>Satoshi Regular</vt:lpstr>
      <vt:lpstr>Satoshi Regular</vt:lpstr>
      <vt:lpstr>Satoshi Regular</vt:lpstr>
      <vt:lpstr>MingLiU-ExtB</vt:lpstr>
      <vt:lpstr>Inter</vt:lpstr>
      <vt:lpstr>Noto Sans SC</vt:lpstr>
      <vt:lpstr>Calibri Light</vt:lpstr>
      <vt:lpstr>Wingdings</vt:lpstr>
      <vt:lpstr>Inter</vt:lpstr>
      <vt:lpstr>Kata Bold</vt:lpstr>
      <vt:lpstr>Oxford Regular</vt:lpstr>
      <vt:lpstr>Saturday Sans Regular</vt:lpstr>
      <vt:lpstr>Mona Medium</vt:lpstr>
      <vt:lpstr>Arial</vt:lpstr>
      <vt:lpstr>Office Theme</vt:lpstr>
      <vt:lpstr>1_Office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吴亚南</cp:lastModifiedBy>
  <cp:revision>15</cp:revision>
  <dcterms:created xsi:type="dcterms:W3CDTF">2025-03-20T06:17:00Z</dcterms:created>
  <dcterms:modified xsi:type="dcterms:W3CDTF">2026-06-08T02:43:54Z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C352ED4EC75F411A9CD7B3A4B72AFF84_13</vt:lpwstr>
  </property>
  <property fmtid="{D5CDD505-2E9C-101B-9397-08002B2CF9AE}" pid="3" name="KSOProductBuildVer">
    <vt:lpwstr>2052-12.1.0.26895</vt:lpwstr>
  </property>
</Properties>
</file>